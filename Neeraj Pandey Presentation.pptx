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DDAD7"/>
          </a:solidFill>
        </a:fill>
      </a:tcStyle>
    </a:wholeTbl>
    <a:band2H>
      <a:tcTxStyle b="def" i="def"/>
      <a:tcStyle>
        <a:tcBdr/>
        <a:fill>
          <a:solidFill>
            <a:srgbClr val="FEED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F3D4"/>
          </a:solidFill>
        </a:fill>
      </a:tcStyle>
    </a:wholeTbl>
    <a:band2H>
      <a:tcTxStyle b="def" i="def"/>
      <a:tcStyle>
        <a:tcBdr/>
        <a:fill>
          <a:solidFill>
            <a:srgbClr val="EEF9EB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5E6"/>
          </a:solidFill>
        </a:fill>
      </a:tcStyle>
    </a:wholeTbl>
    <a:band2H>
      <a:tcTxStyle b="def" i="def"/>
      <a:tcStyle>
        <a:tcBdr/>
        <a:fill>
          <a:solidFill>
            <a:srgbClr val="FEEBF3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914377" latinLnBrk="0">
      <a:defRPr sz="1200">
        <a:latin typeface="+mj-lt"/>
        <a:ea typeface="+mj-ea"/>
        <a:cs typeface="+mj-cs"/>
        <a:sym typeface="Arial"/>
      </a:defRPr>
    </a:lvl1pPr>
    <a:lvl2pPr indent="228600" defTabSz="914377" latinLnBrk="0">
      <a:defRPr sz="1200">
        <a:latin typeface="+mj-lt"/>
        <a:ea typeface="+mj-ea"/>
        <a:cs typeface="+mj-cs"/>
        <a:sym typeface="Arial"/>
      </a:defRPr>
    </a:lvl2pPr>
    <a:lvl3pPr indent="457200" defTabSz="914377" latinLnBrk="0">
      <a:defRPr sz="1200">
        <a:latin typeface="+mj-lt"/>
        <a:ea typeface="+mj-ea"/>
        <a:cs typeface="+mj-cs"/>
        <a:sym typeface="Arial"/>
      </a:defRPr>
    </a:lvl3pPr>
    <a:lvl4pPr indent="685800" defTabSz="914377" latinLnBrk="0">
      <a:defRPr sz="1200">
        <a:latin typeface="+mj-lt"/>
        <a:ea typeface="+mj-ea"/>
        <a:cs typeface="+mj-cs"/>
        <a:sym typeface="Arial"/>
      </a:defRPr>
    </a:lvl4pPr>
    <a:lvl5pPr indent="914400" defTabSz="914377" latinLnBrk="0">
      <a:defRPr sz="1200">
        <a:latin typeface="+mj-lt"/>
        <a:ea typeface="+mj-ea"/>
        <a:cs typeface="+mj-cs"/>
        <a:sym typeface="Arial"/>
      </a:defRPr>
    </a:lvl5pPr>
    <a:lvl6pPr indent="1143000" defTabSz="914377" latinLnBrk="0">
      <a:defRPr sz="1200">
        <a:latin typeface="+mj-lt"/>
        <a:ea typeface="+mj-ea"/>
        <a:cs typeface="+mj-cs"/>
        <a:sym typeface="Arial"/>
      </a:defRPr>
    </a:lvl6pPr>
    <a:lvl7pPr indent="1371600" defTabSz="914377" latinLnBrk="0">
      <a:defRPr sz="1200">
        <a:latin typeface="+mj-lt"/>
        <a:ea typeface="+mj-ea"/>
        <a:cs typeface="+mj-cs"/>
        <a:sym typeface="Arial"/>
      </a:defRPr>
    </a:lvl7pPr>
    <a:lvl8pPr indent="1600200" defTabSz="914377" latinLnBrk="0">
      <a:defRPr sz="1200">
        <a:latin typeface="+mj-lt"/>
        <a:ea typeface="+mj-ea"/>
        <a:cs typeface="+mj-cs"/>
        <a:sym typeface="Arial"/>
      </a:defRPr>
    </a:lvl8pPr>
    <a:lvl9pPr indent="1828800" defTabSz="914377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366643" y="3815345"/>
            <a:ext cx="8066158" cy="72526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685800" indent="-228600">
              <a:buFontTx/>
              <a:defRPr sz="2400">
                <a:solidFill>
                  <a:srgbClr val="FFFFFF"/>
                </a:solidFill>
              </a:defRPr>
            </a:lvl2pPr>
            <a:lvl3pPr marL="1143000" indent="-228600">
              <a:buFontTx/>
              <a:defRPr sz="2400">
                <a:solidFill>
                  <a:srgbClr val="FFFFFF"/>
                </a:solidFill>
              </a:defRPr>
            </a:lvl3pPr>
            <a:lvl4pPr marL="1600200" indent="-228600">
              <a:buFontTx/>
              <a:defRPr sz="2400">
                <a:solidFill>
                  <a:srgbClr val="FFFFFF"/>
                </a:solidFill>
              </a:defRPr>
            </a:lvl4pPr>
            <a:lvl5pPr marL="2057400" indent="-228600">
              <a:buFontTx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Company &amp; Position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This is my story about how I created this app"/>
          <p:cNvSpPr txBox="1"/>
          <p:nvPr>
            <p:ph type="title" hasCustomPrompt="1"/>
          </p:nvPr>
        </p:nvSpPr>
        <p:spPr>
          <a:xfrm>
            <a:off x="366643" y="432211"/>
            <a:ext cx="8066157" cy="19440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This is my story about how I created this app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le Slid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ody Level One…"/>
          <p:cNvSpPr txBox="1"/>
          <p:nvPr>
            <p:ph type="body" sz="quarter" idx="1" hasCustomPrompt="1"/>
          </p:nvPr>
        </p:nvSpPr>
        <p:spPr>
          <a:xfrm>
            <a:off x="366643" y="3815345"/>
            <a:ext cx="8066158" cy="72526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685800" indent="-228600">
              <a:buFontTx/>
              <a:defRPr sz="2400">
                <a:solidFill>
                  <a:srgbClr val="FFFFFF"/>
                </a:solidFill>
              </a:defRPr>
            </a:lvl2pPr>
            <a:lvl3pPr marL="1143000" indent="-228600">
              <a:buFontTx/>
              <a:defRPr sz="2400">
                <a:solidFill>
                  <a:srgbClr val="FFFFFF"/>
                </a:solidFill>
              </a:defRPr>
            </a:lvl3pPr>
            <a:lvl4pPr marL="1600200" indent="-228600">
              <a:buFontTx/>
              <a:defRPr sz="2400">
                <a:solidFill>
                  <a:srgbClr val="FFFFFF"/>
                </a:solidFill>
              </a:defRPr>
            </a:lvl4pPr>
            <a:lvl5pPr marL="2057400" indent="-228600">
              <a:buFontTx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Company &amp; Position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1" name="This is my story about how I created this app"/>
          <p:cNvSpPr txBox="1"/>
          <p:nvPr>
            <p:ph type="title" hasCustomPrompt="1"/>
          </p:nvPr>
        </p:nvSpPr>
        <p:spPr>
          <a:xfrm>
            <a:off x="366643" y="432211"/>
            <a:ext cx="8066157" cy="19440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This is my story about how I created this app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lick to add title.  Generic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add title.  Generic slide</a:t>
            </a:r>
          </a:p>
        </p:txBody>
      </p:sp>
      <p:sp>
        <p:nvSpPr>
          <p:cNvPr id="3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Put your content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lick to add title.  Generic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add title.  Generic slide</a:t>
            </a:r>
          </a:p>
        </p:txBody>
      </p:sp>
      <p:sp>
        <p:nvSpPr>
          <p:cNvPr id="3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Put your content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lick to add title.  Use for non-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add title.  Use for non-text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ulti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lick to add title. Use this template if your title is big"/>
          <p:cNvSpPr txBox="1"/>
          <p:nvPr>
            <p:ph type="title" hasCustomPrompt="1"/>
          </p:nvPr>
        </p:nvSpPr>
        <p:spPr>
          <a:xfrm>
            <a:off x="356399" y="219599"/>
            <a:ext cx="10692002" cy="1359091"/>
          </a:xfrm>
          <a:prstGeom prst="rect">
            <a:avLst/>
          </a:prstGeom>
        </p:spPr>
        <p:txBody>
          <a:bodyPr/>
          <a:lstStyle/>
          <a:p>
            <a:pPr/>
            <a:r>
              <a:t>Click to add title. Use this template if your title is big</a:t>
            </a:r>
          </a:p>
        </p:txBody>
      </p:sp>
      <p:sp>
        <p:nvSpPr>
          <p:cNvPr id="56" name="Body Level One…"/>
          <p:cNvSpPr txBox="1"/>
          <p:nvPr>
            <p:ph type="body" idx="1" hasCustomPrompt="1"/>
          </p:nvPr>
        </p:nvSpPr>
        <p:spPr>
          <a:xfrm>
            <a:off x="356399" y="1899943"/>
            <a:ext cx="10692001" cy="4603788"/>
          </a:xfrm>
          <a:prstGeom prst="rect">
            <a:avLst/>
          </a:prstGeom>
        </p:spPr>
        <p:txBody>
          <a:bodyPr/>
          <a:lstStyle/>
          <a:p>
            <a:pPr/>
            <a:r>
              <a:t>Put your content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lick to add title. Use for co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add title. Use for code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" name="Body Level One…"/>
          <p:cNvSpPr txBox="1"/>
          <p:nvPr>
            <p:ph type="body" idx="1" hasCustomPrompt="1"/>
          </p:nvPr>
        </p:nvSpPr>
        <p:spPr>
          <a:xfrm>
            <a:off x="356397" y="1220400"/>
            <a:ext cx="10692002" cy="49140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FontTx/>
              <a:buNone/>
            </a:lvl1pPr>
            <a:lvl2pPr marL="0" indent="457200">
              <a:lnSpc>
                <a:spcPct val="110000"/>
              </a:lnSpc>
              <a:spcBef>
                <a:spcPts val="0"/>
              </a:spcBef>
              <a:buSzTx/>
              <a:buFontTx/>
              <a:buNone/>
            </a:lvl2pPr>
            <a:lvl3pPr marL="0" indent="914400">
              <a:lnSpc>
                <a:spcPct val="110000"/>
              </a:lnSpc>
              <a:spcBef>
                <a:spcPts val="0"/>
              </a:spcBef>
              <a:buSzTx/>
              <a:buFontTx/>
              <a:buNone/>
            </a:lvl3pPr>
            <a:lvl4pPr marL="0" indent="1371600">
              <a:lnSpc>
                <a:spcPct val="110000"/>
              </a:lnSpc>
              <a:spcBef>
                <a:spcPts val="0"/>
              </a:spcBef>
              <a:buSzTx/>
              <a:buFontTx/>
              <a:buNone/>
            </a:lvl4pPr>
            <a:lvl5pPr marL="0" indent="1828800">
              <a:lnSpc>
                <a:spcPct val="110000"/>
              </a:lnSpc>
              <a:spcBef>
                <a:spcPts val="0"/>
              </a:spcBef>
              <a:buSzTx/>
              <a:buFontTx/>
              <a:buNone/>
            </a:lvl5pPr>
          </a:lstStyle>
          <a:p>
            <a:pPr/>
            <a:r>
              <a:t>// Paste your code snippet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lick to add title. Fullsize pictur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add title. Fullsize picture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" name="Picture Placeholder 4"/>
          <p:cNvSpPr/>
          <p:nvPr>
            <p:ph type="pic" idx="21"/>
          </p:nvPr>
        </p:nvSpPr>
        <p:spPr>
          <a:xfrm>
            <a:off x="356397" y="1220400"/>
            <a:ext cx="10692604" cy="528358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lick for title. Two generic cols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for title. Two generic cols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356399" y="1220397"/>
            <a:ext cx="5284800" cy="5283334"/>
          </a:xfrm>
          <a:prstGeom prst="rect">
            <a:avLst/>
          </a:prstGeom>
        </p:spPr>
        <p:txBody>
          <a:bodyPr/>
          <a:lstStyle/>
          <a:p>
            <a:pPr/>
            <a:r>
              <a:t>Put your content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lick for title. Content + Pictur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for title. Content + Picture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56399" y="1220397"/>
            <a:ext cx="5284800" cy="5283334"/>
          </a:xfrm>
          <a:prstGeom prst="rect">
            <a:avLst/>
          </a:prstGeom>
        </p:spPr>
        <p:txBody>
          <a:bodyPr/>
          <a:lstStyle/>
          <a:p>
            <a:pPr/>
            <a:r>
              <a:t>Put your content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4" name="Picture Placeholder 5"/>
          <p:cNvSpPr/>
          <p:nvPr>
            <p:ph type="pic" sz="half" idx="21"/>
          </p:nvPr>
        </p:nvSpPr>
        <p:spPr>
          <a:xfrm>
            <a:off x="5764200" y="1220397"/>
            <a:ext cx="5284800" cy="52835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lick for title. Picture + Conten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for title. Picture + Content</a:t>
            </a:r>
          </a:p>
        </p:txBody>
      </p:sp>
      <p:sp>
        <p:nvSpPr>
          <p:cNvPr id="102" name="Body Level One…"/>
          <p:cNvSpPr txBox="1"/>
          <p:nvPr>
            <p:ph type="body" sz="half" idx="1" hasCustomPrompt="1"/>
          </p:nvPr>
        </p:nvSpPr>
        <p:spPr>
          <a:xfrm>
            <a:off x="5763597" y="1220397"/>
            <a:ext cx="5284800" cy="5283334"/>
          </a:xfrm>
          <a:prstGeom prst="rect">
            <a:avLst/>
          </a:prstGeom>
        </p:spPr>
        <p:txBody>
          <a:bodyPr/>
          <a:lstStyle/>
          <a:p>
            <a:pPr/>
            <a:r>
              <a:t>Put your content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4" name="Picture Placeholder 5"/>
          <p:cNvSpPr/>
          <p:nvPr>
            <p:ph type="pic" sz="half" idx="21"/>
          </p:nvPr>
        </p:nvSpPr>
        <p:spPr>
          <a:xfrm>
            <a:off x="356397" y="1220397"/>
            <a:ext cx="5284801" cy="52835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lick to add section separator"/>
          <p:cNvSpPr txBox="1"/>
          <p:nvPr>
            <p:ph type="title" hasCustomPrompt="1"/>
          </p:nvPr>
        </p:nvSpPr>
        <p:spPr>
          <a:xfrm>
            <a:off x="343946" y="1038341"/>
            <a:ext cx="8277539" cy="135909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Click to add section separator</a:t>
            </a:r>
          </a:p>
        </p:txBody>
      </p:sp>
      <p:sp>
        <p:nvSpPr>
          <p:cNvPr id="112" name="Body Level One…"/>
          <p:cNvSpPr txBox="1"/>
          <p:nvPr>
            <p:ph type="body" sz="quarter" idx="1" hasCustomPrompt="1"/>
          </p:nvPr>
        </p:nvSpPr>
        <p:spPr>
          <a:xfrm>
            <a:off x="343946" y="2641037"/>
            <a:ext cx="8277539" cy="14380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Any subfooter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inal Slid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ease leave your feedback"/>
          <p:cNvSpPr txBox="1"/>
          <p:nvPr>
            <p:ph type="title" hasCustomPrompt="1"/>
          </p:nvPr>
        </p:nvSpPr>
        <p:spPr>
          <a:xfrm>
            <a:off x="885370" y="1041272"/>
            <a:ext cx="5840628" cy="1698928"/>
          </a:xfrm>
          <a:prstGeom prst="rect">
            <a:avLst/>
          </a:prstGeom>
        </p:spPr>
        <p:txBody>
          <a:bodyPr anchor="ctr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Please leave your feedback</a:t>
            </a:r>
          </a:p>
        </p:txBody>
      </p:sp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885370" y="3319009"/>
            <a:ext cx="5840628" cy="130780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Author NameCompany &amp; Position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Right Arrow 40"/>
          <p:cNvSpPr/>
          <p:nvPr/>
        </p:nvSpPr>
        <p:spPr>
          <a:xfrm>
            <a:off x="7183456" y="1563282"/>
            <a:ext cx="1322172" cy="65490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Picture Placeholder 12"/>
          <p:cNvSpPr/>
          <p:nvPr>
            <p:ph type="pic" sz="quarter" idx="21"/>
          </p:nvPr>
        </p:nvSpPr>
        <p:spPr>
          <a:xfrm>
            <a:off x="8963084" y="839738"/>
            <a:ext cx="2102401" cy="2102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add title.  Generic slide"/>
          <p:cNvSpPr txBox="1"/>
          <p:nvPr>
            <p:ph type="title" hasCustomPrompt="1"/>
          </p:nvPr>
        </p:nvSpPr>
        <p:spPr>
          <a:xfrm>
            <a:off x="356399" y="219599"/>
            <a:ext cx="10692002" cy="679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Click to add title.  Generic slide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56399" y="1220400"/>
            <a:ext cx="10692001" cy="5283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Put your content here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normAutofit fontScale="100000" lnSpcReduction="0"/>
          </a:bodyPr>
          <a:lstStyle>
            <a:lvl1pPr algn="ctr">
              <a:defRPr>
                <a:solidFill>
                  <a:srgbClr val="83838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92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179999" marR="0" indent="-179999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1pPr>
      <a:lvl2pPr marL="723900" marR="0" indent="-2667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2pPr>
      <a:lvl3pPr marL="1181100" marR="0" indent="-2667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3pPr>
      <a:lvl4pPr marL="1638300" marR="0" indent="-2667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4pPr>
      <a:lvl5pPr marL="2095500" marR="0" indent="-2667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5pPr>
      <a:lvl6pPr marL="2641600" marR="0" indent="-35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6pPr>
      <a:lvl7pPr marL="3098800" marR="0" indent="-35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7pPr>
      <a:lvl8pPr marL="3556000" marR="0" indent="-35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8pPr>
      <a:lvl9pPr marL="4013200" marR="0" indent="-35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E7E6E6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mailto:neeraj@lyntcube.com" TargetMode="External"/><Relationship Id="rId3" Type="http://schemas.openxmlformats.org/officeDocument/2006/relationships/image" Target="../media/image4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Placeholder 6"/>
          <p:cNvSpPr txBox="1"/>
          <p:nvPr>
            <p:ph type="body" sz="quarter" idx="1"/>
          </p:nvPr>
        </p:nvSpPr>
        <p:spPr>
          <a:xfrm>
            <a:off x="507972" y="3689008"/>
            <a:ext cx="2082779" cy="384491"/>
          </a:xfrm>
          <a:prstGeom prst="rect">
            <a:avLst/>
          </a:prstGeom>
        </p:spPr>
        <p:txBody>
          <a:bodyPr/>
          <a:lstStyle/>
          <a:p>
            <a:pPr defTabSz="740663">
              <a:spcBef>
                <a:spcPts val="800"/>
              </a:spcBef>
              <a:defRPr sz="1944">
                <a:latin typeface="Square721 BT Roman"/>
                <a:ea typeface="Square721 BT Roman"/>
                <a:cs typeface="Square721 BT Roman"/>
                <a:sym typeface="Square721 BT Roman"/>
              </a:defRPr>
            </a:pPr>
            <a:r>
              <a:rPr>
                <a:solidFill>
                  <a:srgbClr val="DDDDDD"/>
                </a:solidFill>
              </a:rPr>
              <a:t>By</a:t>
            </a:r>
            <a:r>
              <a:rPr>
                <a:solidFill>
                  <a:srgbClr val="A7A7A7"/>
                </a:solidFill>
              </a:rPr>
              <a:t> </a:t>
            </a:r>
            <a:r>
              <a:t>Neeraj Pandey</a:t>
            </a:r>
          </a:p>
        </p:txBody>
      </p:sp>
      <p:sp>
        <p:nvSpPr>
          <p:cNvPr id="148" name="Title 4"/>
          <p:cNvSpPr txBox="1"/>
          <p:nvPr>
            <p:ph type="title"/>
          </p:nvPr>
        </p:nvSpPr>
        <p:spPr>
          <a:xfrm>
            <a:off x="470285" y="2143767"/>
            <a:ext cx="6031125" cy="1221750"/>
          </a:xfrm>
          <a:prstGeom prst="rect">
            <a:avLst/>
          </a:prstGeom>
        </p:spPr>
        <p:txBody>
          <a:bodyPr/>
          <a:lstStyle/>
          <a:p>
            <a:pPr defTabSz="685800">
              <a:lnSpc>
                <a:spcPct val="100000"/>
              </a:lnSpc>
              <a:defRPr sz="3525">
                <a:latin typeface="Square721 BT Roman"/>
                <a:ea typeface="Square721 BT Roman"/>
                <a:cs typeface="Square721 BT Roman"/>
                <a:sym typeface="Square721 BT Roman"/>
              </a:defRPr>
            </a:pPr>
            <a:r>
              <a:t>IaC </a:t>
            </a:r>
            <a:r>
              <a:rPr>
                <a:solidFill>
                  <a:schemeClr val="accent6">
                    <a:satOff val="-42395"/>
                    <a:lumOff val="-14352"/>
                  </a:schemeClr>
                </a:solidFill>
              </a:rPr>
              <a:t>DRIFT</a:t>
            </a:r>
            <a:r>
              <a:t> DETECTION &amp; AI-DRIVEN REMEDIATION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151" name="Shape 0"/>
          <p:cNvSpPr/>
          <p:nvPr/>
        </p:nvSpPr>
        <p:spPr>
          <a:xfrm>
            <a:off x="874969" y="866500"/>
            <a:ext cx="4114801" cy="4114801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" name="Text 1"/>
          <p:cNvSpPr txBox="1"/>
          <p:nvPr/>
        </p:nvSpPr>
        <p:spPr>
          <a:xfrm>
            <a:off x="1103569" y="1051920"/>
            <a:ext cx="3657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12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[DAY 1: SOLVED]</a:t>
            </a:r>
          </a:p>
        </p:txBody>
      </p:sp>
      <p:sp>
        <p:nvSpPr>
          <p:cNvPr id="153" name="Text 2"/>
          <p:cNvSpPr txBox="1"/>
          <p:nvPr/>
        </p:nvSpPr>
        <p:spPr>
          <a:xfrm>
            <a:off x="1195009" y="2193169"/>
            <a:ext cx="3474720" cy="1370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30000"/>
              </a:lnSpc>
              <a:defRPr sz="10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terraform apply</a:t>
            </a:r>
          </a:p>
          <a:p>
            <a:pPr defTabSz="914400">
              <a:lnSpc>
                <a:spcPct val="130000"/>
              </a:lnSpc>
              <a:defRPr sz="1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30000"/>
              </a:lnSpc>
              <a:defRPr sz="10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Apply complete!</a:t>
            </a:r>
          </a:p>
          <a:p>
            <a:pPr defTabSz="914400">
              <a:lnSpc>
                <a:spcPct val="130000"/>
              </a:lnSpc>
              <a:defRPr sz="10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Resources: 3 added</a:t>
            </a:r>
          </a:p>
          <a:p>
            <a:pPr defTabSz="914400">
              <a:lnSpc>
                <a:spcPct val="130000"/>
              </a:lnSpc>
              <a:defRPr sz="1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30000"/>
              </a:lnSpc>
              <a:defRPr sz="10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Infrastructure provisioned</a:t>
            </a:r>
          </a:p>
          <a:p>
            <a:pPr defTabSz="914400">
              <a:lnSpc>
                <a:spcPct val="130000"/>
              </a:lnSpc>
              <a:defRPr sz="10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All systems operational</a:t>
            </a:r>
          </a:p>
        </p:txBody>
      </p:sp>
      <p:sp>
        <p:nvSpPr>
          <p:cNvPr id="154" name="Shape 3"/>
          <p:cNvSpPr/>
          <p:nvPr/>
        </p:nvSpPr>
        <p:spPr>
          <a:xfrm>
            <a:off x="1057849" y="4706980"/>
            <a:ext cx="3931921" cy="27432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Text 4"/>
          <p:cNvSpPr txBox="1"/>
          <p:nvPr/>
        </p:nvSpPr>
        <p:spPr>
          <a:xfrm>
            <a:off x="1103569" y="4734920"/>
            <a:ext cx="38404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AI CODE GENERATION WORKS</a:t>
            </a:r>
          </a:p>
        </p:txBody>
      </p:sp>
      <p:sp>
        <p:nvSpPr>
          <p:cNvPr id="156" name="Shape 5"/>
          <p:cNvSpPr/>
          <p:nvPr/>
        </p:nvSpPr>
        <p:spPr>
          <a:xfrm>
            <a:off x="5355528" y="866500"/>
            <a:ext cx="4114801" cy="4114801"/>
          </a:xfrm>
          <a:prstGeom prst="rect">
            <a:avLst/>
          </a:prstGeom>
          <a:solidFill>
            <a:srgbClr val="0A0A0A"/>
          </a:solidFill>
          <a:ln w="1905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Text 6"/>
          <p:cNvSpPr txBox="1"/>
          <p:nvPr/>
        </p:nvSpPr>
        <p:spPr>
          <a:xfrm>
            <a:off x="5584128" y="1051920"/>
            <a:ext cx="3657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[DAY 2+: REALITY]</a:t>
            </a:r>
          </a:p>
        </p:txBody>
      </p:sp>
      <p:sp>
        <p:nvSpPr>
          <p:cNvPr id="158" name="Text 7"/>
          <p:cNvSpPr txBox="1"/>
          <p:nvPr/>
        </p:nvSpPr>
        <p:spPr>
          <a:xfrm>
            <a:off x="5675569" y="2163696"/>
            <a:ext cx="3566160" cy="1428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! DRIFT DETECTED</a:t>
            </a:r>
          </a:p>
          <a:p>
            <a:pPr defTabSz="914400">
              <a:lnSpc>
                <a:spcPct val="140000"/>
              </a:lnSpc>
              <a:defRPr sz="1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! sg-0abc123 modified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! Port 22 → 0.0.0.0/0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! CIS violation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! 4 resources at risk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! 19-hour exposure</a:t>
            </a:r>
          </a:p>
        </p:txBody>
      </p:sp>
      <p:sp>
        <p:nvSpPr>
          <p:cNvPr id="159" name="Shape 8"/>
          <p:cNvSpPr/>
          <p:nvPr/>
        </p:nvSpPr>
        <p:spPr>
          <a:xfrm>
            <a:off x="5538408" y="4706980"/>
            <a:ext cx="3931921" cy="27432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" name="Text 9"/>
          <p:cNvSpPr txBox="1"/>
          <p:nvPr/>
        </p:nvSpPr>
        <p:spPr>
          <a:xfrm>
            <a:off x="5584128" y="4734920"/>
            <a:ext cx="38404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OPERATIONS PROBLEM UNSOLVED</a:t>
            </a:r>
          </a:p>
        </p:txBody>
      </p:sp>
      <p:sp>
        <p:nvSpPr>
          <p:cNvPr id="161" name="Text 10"/>
          <p:cNvSpPr txBox="1"/>
          <p:nvPr/>
        </p:nvSpPr>
        <p:spPr>
          <a:xfrm>
            <a:off x="812902" y="5240174"/>
            <a:ext cx="8097646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IaC DRIFT DETECTION &amp; AI-DRIVEN REMEDIATION</a:t>
            </a:r>
          </a:p>
        </p:txBody>
      </p:sp>
      <p:sp>
        <p:nvSpPr>
          <p:cNvPr id="162" name="Text 11"/>
          <p:cNvSpPr txBox="1"/>
          <p:nvPr/>
        </p:nvSpPr>
        <p:spPr>
          <a:xfrm>
            <a:off x="816435" y="5693684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5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Bridging AI-Generated Infrastructure &amp; Operational Reality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165" name="Text 0"/>
          <p:cNvSpPr txBox="1"/>
          <p:nvPr/>
        </p:nvSpPr>
        <p:spPr>
          <a:xfrm>
            <a:off x="813844" y="12953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╔══════════════════╗</a:t>
            </a:r>
          </a:p>
        </p:txBody>
      </p:sp>
      <p:sp>
        <p:nvSpPr>
          <p:cNvPr id="166" name="Text 1"/>
          <p:cNvSpPr txBox="1"/>
          <p:nvPr/>
        </p:nvSpPr>
        <p:spPr>
          <a:xfrm>
            <a:off x="813844" y="33401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WHO &amp; WHERE WE'RE GOING</a:t>
            </a:r>
          </a:p>
        </p:txBody>
      </p:sp>
      <p:sp>
        <p:nvSpPr>
          <p:cNvPr id="167" name="Text 2"/>
          <p:cNvSpPr txBox="1"/>
          <p:nvPr/>
        </p:nvSpPr>
        <p:spPr>
          <a:xfrm>
            <a:off x="813844" y="67818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╚══════════════════╝</a:t>
            </a:r>
          </a:p>
        </p:txBody>
      </p:sp>
      <p:sp>
        <p:nvSpPr>
          <p:cNvPr id="168" name="Text 3"/>
          <p:cNvSpPr txBox="1"/>
          <p:nvPr/>
        </p:nvSpPr>
        <p:spPr>
          <a:xfrm>
            <a:off x="668652" y="6516576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1/7]</a:t>
            </a:r>
          </a:p>
        </p:txBody>
      </p:sp>
      <p:sp>
        <p:nvSpPr>
          <p:cNvPr id="169" name="Text 4"/>
          <p:cNvSpPr txBox="1"/>
          <p:nvPr/>
        </p:nvSpPr>
        <p:spPr>
          <a:xfrm>
            <a:off x="813844" y="1089659"/>
            <a:ext cx="3566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whoami</a:t>
            </a:r>
          </a:p>
        </p:txBody>
      </p:sp>
      <p:sp>
        <p:nvSpPr>
          <p:cNvPr id="170" name="Shape 5"/>
          <p:cNvSpPr/>
          <p:nvPr/>
        </p:nvSpPr>
        <p:spPr>
          <a:xfrm>
            <a:off x="881187" y="1513839"/>
            <a:ext cx="3657601" cy="1715771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" name="Text 6"/>
          <p:cNvSpPr txBox="1"/>
          <p:nvPr/>
        </p:nvSpPr>
        <p:spPr>
          <a:xfrm>
            <a:off x="1109787" y="1785302"/>
            <a:ext cx="3200401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CTO @ Lyntcube &amp; Vivid Climate</a:t>
            </a:r>
          </a:p>
          <a:p>
            <a:pPr>
              <a:defRPr sz="1000">
                <a:solidFill>
                  <a:srgbClr val="D0D0D0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defRPr sz="1000">
                <a:solidFill>
                  <a:srgbClr val="D0D0D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Vivid:    Carbon/Water Accounting + DMRV</a:t>
            </a:r>
          </a:p>
          <a:p>
            <a:pPr>
              <a:defRPr sz="1000">
                <a:solidFill>
                  <a:srgbClr val="D0D0D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Lyntcube: AI Operators for Real Estate</a:t>
            </a:r>
          </a:p>
          <a:p>
            <a:pPr>
              <a:defRPr sz="1000">
                <a:solidFill>
                  <a:srgbClr val="D0D0D0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defRPr sz="1000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Building compliance infrastructure at scale.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72" name="Text 16"/>
          <p:cNvSpPr txBox="1"/>
          <p:nvPr/>
        </p:nvSpPr>
        <p:spPr>
          <a:xfrm>
            <a:off x="4928644" y="1089659"/>
            <a:ext cx="40233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4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agenda.txt</a:t>
            </a:r>
          </a:p>
        </p:txBody>
      </p:sp>
      <p:sp>
        <p:nvSpPr>
          <p:cNvPr id="173" name="Shape 17"/>
          <p:cNvSpPr/>
          <p:nvPr/>
        </p:nvSpPr>
        <p:spPr>
          <a:xfrm>
            <a:off x="4995987" y="1513839"/>
            <a:ext cx="5113748" cy="4549035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Shape 18"/>
          <p:cNvSpPr/>
          <p:nvPr/>
        </p:nvSpPr>
        <p:spPr>
          <a:xfrm>
            <a:off x="4995987" y="1513839"/>
            <a:ext cx="5113748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Shape 19"/>
          <p:cNvSpPr/>
          <p:nvPr/>
        </p:nvSpPr>
        <p:spPr>
          <a:xfrm>
            <a:off x="5041707" y="15595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Shape 20"/>
          <p:cNvSpPr/>
          <p:nvPr/>
        </p:nvSpPr>
        <p:spPr>
          <a:xfrm>
            <a:off x="5133147" y="15595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7" name="Shape 21"/>
          <p:cNvSpPr/>
          <p:nvPr/>
        </p:nvSpPr>
        <p:spPr>
          <a:xfrm>
            <a:off x="5224587" y="15595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" name="Text 22"/>
          <p:cNvSpPr txBox="1"/>
          <p:nvPr/>
        </p:nvSpPr>
        <p:spPr>
          <a:xfrm>
            <a:off x="5126797" y="1450286"/>
            <a:ext cx="4998332" cy="467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[1]</a:t>
            </a:r>
            <a:r>
              <a:rPr>
                <a:solidFill>
                  <a:schemeClr val="accent4"/>
                </a:solidFill>
              </a:rPr>
              <a:t> </a:t>
            </a:r>
            <a:r>
              <a:rPr b="1">
                <a:solidFill>
                  <a:schemeClr val="accent4"/>
                </a:solidFill>
              </a:rPr>
              <a:t>Drift Problem </a:t>
            </a:r>
            <a:r>
              <a:t>                  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→ AI solved Day 1 code gen, but Day 2+ operations still broken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[2] Detection Fails </a:t>
            </a:r>
            <a:r>
              <a:t>                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→ 19-hour incident: 3 tools, 3 teams, 7 alerts, 0 coordination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[3] Unified Pipeline  </a:t>
            </a:r>
            <a:r>
              <a:t>             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→ Graph + Causal AI achieves 85% alert reduction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[4] AI Agents: RCA + Fix  </a:t>
            </a:r>
            <a:r>
              <a:t>       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→ Detective + Surgeon + Checker = 75% → 95% accuracy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[5] Governance      </a:t>
            </a:r>
            <a:r>
              <a:t>               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→ OPA 3-tier policies, machine identity, never runs apply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[6] Failure Modes   </a:t>
            </a:r>
            <a:r>
              <a:t>             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→ Circuit breaker, 900 → 30 alerts/day, production lessons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[7] Takeaways + Q&amp;A </a:t>
            </a:r>
            <a:r>
              <a:t>              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→ Copy-paste templates, &lt;$300/mo, implementation guide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E00000"/>
                </a:solidFill>
              </a:rPr>
              <a:t>[WARNING]</a:t>
            </a:r>
            <a:r>
              <a:t> Two real production failures dissected.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Not hypotheticals. Real postmortems.</a:t>
            </a:r>
          </a:p>
        </p:txBody>
      </p:sp>
      <p:sp>
        <p:nvSpPr>
          <p:cNvPr id="179" name="Shape 23"/>
          <p:cNvSpPr/>
          <p:nvPr/>
        </p:nvSpPr>
        <p:spPr>
          <a:xfrm>
            <a:off x="884362" y="3467100"/>
            <a:ext cx="3651251" cy="2598724"/>
          </a:xfrm>
          <a:prstGeom prst="rect">
            <a:avLst/>
          </a:prstGeom>
          <a:solidFill>
            <a:srgbClr val="0A0A0A"/>
          </a:solidFill>
          <a:ln w="25400">
            <a:solidFill>
              <a:schemeClr val="accent1">
                <a:satOff val="-44253"/>
                <a:lumOff val="-14705"/>
              </a:schemeClr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" name="Shape 24"/>
          <p:cNvSpPr/>
          <p:nvPr/>
        </p:nvSpPr>
        <p:spPr>
          <a:xfrm>
            <a:off x="873037" y="3477894"/>
            <a:ext cx="3663951" cy="137161"/>
          </a:xfrm>
          <a:prstGeom prst="rect">
            <a:avLst/>
          </a:prstGeom>
          <a:solidFill>
            <a:schemeClr val="accent1">
              <a:satOff val="-44253"/>
              <a:lumOff val="-14705"/>
            </a:schemeClr>
          </a:solidFill>
          <a:ln w="12700">
            <a:solidFill>
              <a:schemeClr val="accent1">
                <a:satOff val="-44253"/>
                <a:lumOff val="-14705"/>
              </a:schemeClr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Shape 25"/>
          <p:cNvSpPr/>
          <p:nvPr/>
        </p:nvSpPr>
        <p:spPr>
          <a:xfrm>
            <a:off x="828344" y="348551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" name="Shape 26"/>
          <p:cNvSpPr/>
          <p:nvPr/>
        </p:nvSpPr>
        <p:spPr>
          <a:xfrm>
            <a:off x="919784" y="348551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" name="Shape 27"/>
          <p:cNvSpPr/>
          <p:nvPr/>
        </p:nvSpPr>
        <p:spPr>
          <a:xfrm>
            <a:off x="1011224" y="348551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" name="Text 28"/>
          <p:cNvSpPr txBox="1"/>
          <p:nvPr/>
        </p:nvSpPr>
        <p:spPr>
          <a:xfrm>
            <a:off x="1475547" y="3437254"/>
            <a:ext cx="24688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whoami --verbose</a:t>
            </a:r>
          </a:p>
        </p:txBody>
      </p:sp>
      <p:sp>
        <p:nvSpPr>
          <p:cNvPr id="185" name="Text 29"/>
          <p:cNvSpPr txBox="1"/>
          <p:nvPr/>
        </p:nvSpPr>
        <p:spPr>
          <a:xfrm>
            <a:off x="1150700" y="3594886"/>
            <a:ext cx="3118575" cy="2352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b="1" sz="9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This talk is for: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[x] Platform engineers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[x] DevOps building AI tools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[x] SREs handling drift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[x] Security evaluating auto-remediation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[x] Leaders assessing AI readiness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b="1" sz="9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You will leave with: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→ Working code (agents/*.py)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→ Production prompts (2,600 words)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→ OPA policies (3-tier Rego)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→ Pre-production checklist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188" name="Text 0"/>
          <p:cNvSpPr txBox="1"/>
          <p:nvPr/>
        </p:nvSpPr>
        <p:spPr>
          <a:xfrm>
            <a:off x="842110" y="-6144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╔═════════════════════╗</a:t>
            </a:r>
          </a:p>
        </p:txBody>
      </p:sp>
      <p:sp>
        <p:nvSpPr>
          <p:cNvPr id="189" name="Text 1"/>
          <p:cNvSpPr txBox="1"/>
          <p:nvPr/>
        </p:nvSpPr>
        <p:spPr>
          <a:xfrm>
            <a:off x="842110" y="198326"/>
            <a:ext cx="81381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BEAUTIFUL LIE: DAY 1 SOLVED</a:t>
            </a:r>
          </a:p>
        </p:txBody>
      </p:sp>
      <p:sp>
        <p:nvSpPr>
          <p:cNvPr id="190" name="Text 2"/>
          <p:cNvSpPr txBox="1"/>
          <p:nvPr/>
        </p:nvSpPr>
        <p:spPr>
          <a:xfrm>
            <a:off x="842110" y="542496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╚═════════════════════╝</a:t>
            </a:r>
          </a:p>
        </p:txBody>
      </p:sp>
      <p:sp>
        <p:nvSpPr>
          <p:cNvPr id="191" name="Text 3"/>
          <p:cNvSpPr txBox="1"/>
          <p:nvPr/>
        </p:nvSpPr>
        <p:spPr>
          <a:xfrm>
            <a:off x="875934" y="6491176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1/7]</a:t>
            </a:r>
          </a:p>
        </p:txBody>
      </p:sp>
      <p:sp>
        <p:nvSpPr>
          <p:cNvPr id="192" name="Text 4"/>
          <p:cNvSpPr txBox="1"/>
          <p:nvPr/>
        </p:nvSpPr>
        <p:spPr>
          <a:xfrm>
            <a:off x="842110" y="875236"/>
            <a:ext cx="81381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./modern_pipeline.sh</a:t>
            </a:r>
          </a:p>
        </p:txBody>
      </p:sp>
      <p:sp>
        <p:nvSpPr>
          <p:cNvPr id="193" name="Shape 5"/>
          <p:cNvSpPr/>
          <p:nvPr/>
        </p:nvSpPr>
        <p:spPr>
          <a:xfrm>
            <a:off x="933285" y="1263538"/>
            <a:ext cx="5010237" cy="616553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Text 6"/>
          <p:cNvSpPr txBox="1"/>
          <p:nvPr/>
        </p:nvSpPr>
        <p:spPr>
          <a:xfrm>
            <a:off x="1142045" y="1350394"/>
            <a:ext cx="4592717" cy="222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b="1" sz="10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[1] PROMPT</a:t>
            </a:r>
          </a:p>
        </p:txBody>
      </p:sp>
      <p:sp>
        <p:nvSpPr>
          <p:cNvPr id="195" name="Text 7"/>
          <p:cNvSpPr txBox="1"/>
          <p:nvPr/>
        </p:nvSpPr>
        <p:spPr>
          <a:xfrm>
            <a:off x="1142045" y="1598727"/>
            <a:ext cx="4592717" cy="210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[OK] "Create encrypted S3 bucket with versioning"</a:t>
            </a:r>
          </a:p>
        </p:txBody>
      </p:sp>
      <p:sp>
        <p:nvSpPr>
          <p:cNvPr id="196" name="Text 8"/>
          <p:cNvSpPr txBox="1"/>
          <p:nvPr/>
        </p:nvSpPr>
        <p:spPr>
          <a:xfrm>
            <a:off x="3438403" y="1884983"/>
            <a:ext cx="11599" cy="122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 defTabSz="914400">
              <a:defRPr sz="12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│</a:t>
            </a:r>
          </a:p>
        </p:txBody>
      </p:sp>
      <p:sp>
        <p:nvSpPr>
          <p:cNvPr id="197" name="Shape 9"/>
          <p:cNvSpPr/>
          <p:nvPr/>
        </p:nvSpPr>
        <p:spPr>
          <a:xfrm>
            <a:off x="933285" y="2012209"/>
            <a:ext cx="5010237" cy="616553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" name="Text 10"/>
          <p:cNvSpPr txBox="1"/>
          <p:nvPr/>
        </p:nvSpPr>
        <p:spPr>
          <a:xfrm>
            <a:off x="1142045" y="2099064"/>
            <a:ext cx="4592717" cy="222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b="1" sz="10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[2] LLM GENERATES</a:t>
            </a:r>
          </a:p>
        </p:txBody>
      </p:sp>
      <p:sp>
        <p:nvSpPr>
          <p:cNvPr id="199" name="Text 11"/>
          <p:cNvSpPr txBox="1"/>
          <p:nvPr/>
        </p:nvSpPr>
        <p:spPr>
          <a:xfrm>
            <a:off x="1142045" y="2347398"/>
            <a:ext cx="4592717" cy="21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[OK] 47 lines HCL · Correct AWS provider syntax</a:t>
            </a:r>
          </a:p>
        </p:txBody>
      </p:sp>
      <p:sp>
        <p:nvSpPr>
          <p:cNvPr id="200" name="Text 12"/>
          <p:cNvSpPr txBox="1"/>
          <p:nvPr/>
        </p:nvSpPr>
        <p:spPr>
          <a:xfrm>
            <a:off x="3438403" y="2633654"/>
            <a:ext cx="11599" cy="122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 defTabSz="914400">
              <a:defRPr sz="12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│</a:t>
            </a:r>
          </a:p>
        </p:txBody>
      </p:sp>
      <p:sp>
        <p:nvSpPr>
          <p:cNvPr id="201" name="Shape 13"/>
          <p:cNvSpPr/>
          <p:nvPr/>
        </p:nvSpPr>
        <p:spPr>
          <a:xfrm>
            <a:off x="933285" y="2760879"/>
            <a:ext cx="5010237" cy="616553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Text 14"/>
          <p:cNvSpPr txBox="1"/>
          <p:nvPr/>
        </p:nvSpPr>
        <p:spPr>
          <a:xfrm>
            <a:off x="1142045" y="2847735"/>
            <a:ext cx="4592717" cy="222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b="1" sz="10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[3] SECURITY SCAN</a:t>
            </a:r>
          </a:p>
        </p:txBody>
      </p:sp>
      <p:sp>
        <p:nvSpPr>
          <p:cNvPr id="203" name="Text 15"/>
          <p:cNvSpPr txBox="1"/>
          <p:nvPr/>
        </p:nvSpPr>
        <p:spPr>
          <a:xfrm>
            <a:off x="1142045" y="3096069"/>
            <a:ext cx="4592717" cy="21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[OK] Checkov + tfsec · 0 violations</a:t>
            </a:r>
          </a:p>
        </p:txBody>
      </p:sp>
      <p:sp>
        <p:nvSpPr>
          <p:cNvPr id="204" name="Text 16"/>
          <p:cNvSpPr txBox="1"/>
          <p:nvPr/>
        </p:nvSpPr>
        <p:spPr>
          <a:xfrm>
            <a:off x="3438403" y="3382324"/>
            <a:ext cx="11599" cy="122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 defTabSz="914400">
              <a:defRPr sz="12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│</a:t>
            </a:r>
          </a:p>
        </p:txBody>
      </p:sp>
      <p:sp>
        <p:nvSpPr>
          <p:cNvPr id="205" name="Shape 17"/>
          <p:cNvSpPr/>
          <p:nvPr/>
        </p:nvSpPr>
        <p:spPr>
          <a:xfrm>
            <a:off x="933285" y="3509550"/>
            <a:ext cx="5010237" cy="616553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Text 18"/>
          <p:cNvSpPr txBox="1"/>
          <p:nvPr/>
        </p:nvSpPr>
        <p:spPr>
          <a:xfrm>
            <a:off x="1142045" y="3596405"/>
            <a:ext cx="4592717" cy="222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b="1" sz="10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[4] PR REVIEW</a:t>
            </a:r>
          </a:p>
        </p:txBody>
      </p:sp>
      <p:sp>
        <p:nvSpPr>
          <p:cNvPr id="207" name="Text 19"/>
          <p:cNvSpPr txBox="1"/>
          <p:nvPr/>
        </p:nvSpPr>
        <p:spPr>
          <a:xfrm>
            <a:off x="1142045" y="3844738"/>
            <a:ext cx="4592717" cy="210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[OK] Approved · Merged to main</a:t>
            </a:r>
          </a:p>
        </p:txBody>
      </p:sp>
      <p:sp>
        <p:nvSpPr>
          <p:cNvPr id="208" name="Text 20"/>
          <p:cNvSpPr txBox="1"/>
          <p:nvPr/>
        </p:nvSpPr>
        <p:spPr>
          <a:xfrm>
            <a:off x="3438403" y="4130995"/>
            <a:ext cx="11599" cy="12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 defTabSz="914400">
              <a:defRPr sz="12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│</a:t>
            </a:r>
          </a:p>
        </p:txBody>
      </p:sp>
      <p:sp>
        <p:nvSpPr>
          <p:cNvPr id="209" name="Shape 21"/>
          <p:cNvSpPr/>
          <p:nvPr/>
        </p:nvSpPr>
        <p:spPr>
          <a:xfrm>
            <a:off x="933285" y="4258220"/>
            <a:ext cx="5010237" cy="616553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Text 22"/>
          <p:cNvSpPr txBox="1"/>
          <p:nvPr/>
        </p:nvSpPr>
        <p:spPr>
          <a:xfrm>
            <a:off x="1142045" y="4345075"/>
            <a:ext cx="4592717" cy="222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b="1" sz="10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[5] CI/CD</a:t>
            </a:r>
          </a:p>
        </p:txBody>
      </p:sp>
      <p:sp>
        <p:nvSpPr>
          <p:cNvPr id="211" name="Text 23"/>
          <p:cNvSpPr txBox="1"/>
          <p:nvPr/>
        </p:nvSpPr>
        <p:spPr>
          <a:xfrm>
            <a:off x="1142045" y="4593409"/>
            <a:ext cx="4592717" cy="210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[OK] terraform plan + apply · 3 resources</a:t>
            </a:r>
          </a:p>
        </p:txBody>
      </p:sp>
      <p:sp>
        <p:nvSpPr>
          <p:cNvPr id="212" name="Text 24"/>
          <p:cNvSpPr txBox="1"/>
          <p:nvPr/>
        </p:nvSpPr>
        <p:spPr>
          <a:xfrm>
            <a:off x="3438403" y="4879666"/>
            <a:ext cx="11599" cy="12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 defTabSz="914400">
              <a:defRPr sz="12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│</a:t>
            </a:r>
          </a:p>
        </p:txBody>
      </p:sp>
      <p:sp>
        <p:nvSpPr>
          <p:cNvPr id="213" name="Shape 25"/>
          <p:cNvSpPr/>
          <p:nvPr/>
        </p:nvSpPr>
        <p:spPr>
          <a:xfrm>
            <a:off x="933285" y="5006890"/>
            <a:ext cx="5010237" cy="616554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" name="Text 26"/>
          <p:cNvSpPr txBox="1"/>
          <p:nvPr/>
        </p:nvSpPr>
        <p:spPr>
          <a:xfrm>
            <a:off x="1142045" y="5093746"/>
            <a:ext cx="4592717" cy="222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b="1" sz="10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[6] LIVE</a:t>
            </a:r>
          </a:p>
        </p:txBody>
      </p:sp>
      <p:sp>
        <p:nvSpPr>
          <p:cNvPr id="215" name="Text 27"/>
          <p:cNvSpPr txBox="1"/>
          <p:nvPr/>
        </p:nvSpPr>
        <p:spPr>
          <a:xfrm>
            <a:off x="1142045" y="5342080"/>
            <a:ext cx="4592717" cy="21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defTabSz="914400"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[OK] All systems operational</a:t>
            </a:r>
          </a:p>
        </p:txBody>
      </p:sp>
      <p:sp>
        <p:nvSpPr>
          <p:cNvPr id="216" name="Shape 28"/>
          <p:cNvSpPr/>
          <p:nvPr/>
        </p:nvSpPr>
        <p:spPr>
          <a:xfrm>
            <a:off x="928768" y="5755561"/>
            <a:ext cx="5019271" cy="616553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" name="Text 29"/>
          <p:cNvSpPr txBox="1"/>
          <p:nvPr/>
        </p:nvSpPr>
        <p:spPr>
          <a:xfrm>
            <a:off x="1137528" y="5505645"/>
            <a:ext cx="3836180" cy="1115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914400">
              <a:lnSpc>
                <a:spcPct val="130000"/>
              </a:lnSpc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"Generation problem solved.</a:t>
            </a:r>
          </a:p>
          <a:p>
            <a:pPr defTabSz="914400">
              <a:lnSpc>
                <a:spcPct val="130000"/>
              </a:lnSpc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Operations problem fragmented, rule-based, and require manual investigation"</a:t>
            </a:r>
          </a:p>
        </p:txBody>
      </p:sp>
      <p:grpSp>
        <p:nvGrpSpPr>
          <p:cNvPr id="223" name="Group"/>
          <p:cNvGrpSpPr/>
          <p:nvPr/>
        </p:nvGrpSpPr>
        <p:grpSpPr>
          <a:xfrm>
            <a:off x="7144191" y="2151466"/>
            <a:ext cx="3103856" cy="3332720"/>
            <a:chOff x="0" y="0"/>
            <a:chExt cx="3103854" cy="3332719"/>
          </a:xfrm>
        </p:grpSpPr>
        <p:sp>
          <p:nvSpPr>
            <p:cNvPr id="218" name="Shape 17"/>
            <p:cNvSpPr/>
            <p:nvPr/>
          </p:nvSpPr>
          <p:spPr>
            <a:xfrm>
              <a:off x="0" y="0"/>
              <a:ext cx="3103855" cy="3332720"/>
            </a:xfrm>
            <a:prstGeom prst="rect">
              <a:avLst/>
            </a:prstGeom>
            <a:solidFill>
              <a:srgbClr val="0A0A0A"/>
            </a:solidFill>
            <a:ln w="254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9" name="Shape 18"/>
            <p:cNvSpPr/>
            <p:nvPr/>
          </p:nvSpPr>
          <p:spPr>
            <a:xfrm>
              <a:off x="0" y="0"/>
              <a:ext cx="3103855" cy="99982"/>
            </a:xfrm>
            <a:prstGeom prst="rect">
              <a:avLst/>
            </a:prstGeom>
            <a:solidFill>
              <a:srgbClr val="00FFFF"/>
            </a:solidFill>
            <a:ln w="127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20" name="Shape 19"/>
            <p:cNvSpPr/>
            <p:nvPr/>
          </p:nvSpPr>
          <p:spPr>
            <a:xfrm>
              <a:off x="34487" y="33327"/>
              <a:ext cx="34488" cy="33328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21" name="Shape 20"/>
            <p:cNvSpPr/>
            <p:nvPr/>
          </p:nvSpPr>
          <p:spPr>
            <a:xfrm>
              <a:off x="103461" y="33327"/>
              <a:ext cx="34488" cy="33328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22" name="Shape 21"/>
            <p:cNvSpPr/>
            <p:nvPr/>
          </p:nvSpPr>
          <p:spPr>
            <a:xfrm>
              <a:off x="172436" y="33327"/>
              <a:ext cx="34488" cy="33328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24" name="Text 7"/>
          <p:cNvSpPr txBox="1"/>
          <p:nvPr/>
        </p:nvSpPr>
        <p:spPr>
          <a:xfrm>
            <a:off x="7371519" y="2563104"/>
            <a:ext cx="2649200" cy="2773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40000"/>
              </a:lnSpc>
              <a:defRPr b="1" sz="1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diff day1.txt operations.txt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40000"/>
              </a:lnSpc>
              <a:defRPr sz="1000">
                <a:solidFill>
                  <a:schemeClr val="accent3">
                    <a:lumOff val="8578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[SOLVED] Code generation</a:t>
            </a:r>
          </a:p>
          <a:p>
            <a:pPr defTabSz="914400">
              <a:lnSpc>
                <a:spcPct val="140000"/>
              </a:lnSpc>
              <a:defRPr sz="1000">
                <a:solidFill>
                  <a:schemeClr val="accent3">
                    <a:lumOff val="8578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[SOLVED] Security validation</a:t>
            </a:r>
          </a:p>
          <a:p>
            <a:pPr defTabSz="914400">
              <a:lnSpc>
                <a:spcPct val="140000"/>
              </a:lnSpc>
              <a:defRPr sz="1000">
                <a:solidFill>
                  <a:schemeClr val="accent3">
                    <a:lumOff val="8578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[SOLVED] Deployment automation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[MISSING] Drift detection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[MISSING] Root cause analysis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[MISSING] Auto-remediation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[MISSING] Operational context</a:t>
            </a:r>
          </a:p>
          <a:p>
            <a:pPr defTabSz="914400">
              <a:lnSpc>
                <a:spcPct val="140000"/>
              </a:lnSpc>
              <a:defRPr sz="10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40000"/>
              </a:lnSpc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Generation: 100% solved</a:t>
            </a:r>
          </a:p>
          <a:p>
            <a:pPr defTabSz="914400">
              <a:lnSpc>
                <a:spcPct val="140000"/>
              </a:lnSpc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Operations: 0% started</a:t>
            </a:r>
          </a:p>
        </p:txBody>
      </p:sp>
      <p:sp>
        <p:nvSpPr>
          <p:cNvPr id="225" name="Ornament 3"/>
          <p:cNvSpPr/>
          <p:nvPr/>
        </p:nvSpPr>
        <p:spPr>
          <a:xfrm>
            <a:off x="6337668" y="3607006"/>
            <a:ext cx="421902" cy="421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1" h="21114" fill="norm" stroke="1" extrusionOk="0">
                <a:moveTo>
                  <a:pt x="4639" y="1"/>
                </a:moveTo>
                <a:cubicBezTo>
                  <a:pt x="3461" y="-16"/>
                  <a:pt x="2280" y="422"/>
                  <a:pt x="1377" y="1328"/>
                </a:cubicBezTo>
                <a:cubicBezTo>
                  <a:pt x="-448" y="3156"/>
                  <a:pt x="-459" y="6160"/>
                  <a:pt x="1345" y="8002"/>
                </a:cubicBezTo>
                <a:lnTo>
                  <a:pt x="2889" y="9578"/>
                </a:lnTo>
                <a:cubicBezTo>
                  <a:pt x="2933" y="9623"/>
                  <a:pt x="3002" y="9623"/>
                  <a:pt x="3046" y="9578"/>
                </a:cubicBezTo>
                <a:lnTo>
                  <a:pt x="4414" y="8180"/>
                </a:lnTo>
                <a:cubicBezTo>
                  <a:pt x="4458" y="8136"/>
                  <a:pt x="4458" y="8065"/>
                  <a:pt x="4414" y="8020"/>
                </a:cubicBezTo>
                <a:lnTo>
                  <a:pt x="2871" y="6442"/>
                </a:lnTo>
                <a:cubicBezTo>
                  <a:pt x="1931" y="5482"/>
                  <a:pt x="1920" y="3923"/>
                  <a:pt x="2841" y="2950"/>
                </a:cubicBezTo>
                <a:cubicBezTo>
                  <a:pt x="3789" y="1948"/>
                  <a:pt x="5385" y="1966"/>
                  <a:pt x="6350" y="2952"/>
                </a:cubicBezTo>
                <a:lnTo>
                  <a:pt x="12838" y="9578"/>
                </a:lnTo>
                <a:cubicBezTo>
                  <a:pt x="12882" y="9623"/>
                  <a:pt x="12953" y="9623"/>
                  <a:pt x="12997" y="9578"/>
                </a:cubicBezTo>
                <a:lnTo>
                  <a:pt x="14365" y="8180"/>
                </a:lnTo>
                <a:cubicBezTo>
                  <a:pt x="14409" y="8136"/>
                  <a:pt x="14409" y="8065"/>
                  <a:pt x="14365" y="8020"/>
                </a:cubicBezTo>
                <a:lnTo>
                  <a:pt x="7888" y="1403"/>
                </a:lnTo>
                <a:cubicBezTo>
                  <a:pt x="6993" y="489"/>
                  <a:pt x="5817" y="17"/>
                  <a:pt x="4639" y="1"/>
                </a:cubicBezTo>
                <a:close/>
                <a:moveTo>
                  <a:pt x="16042" y="1"/>
                </a:moveTo>
                <a:cubicBezTo>
                  <a:pt x="14864" y="17"/>
                  <a:pt x="13688" y="489"/>
                  <a:pt x="12793" y="1403"/>
                </a:cubicBezTo>
                <a:lnTo>
                  <a:pt x="11291" y="2938"/>
                </a:lnTo>
                <a:cubicBezTo>
                  <a:pt x="11247" y="2983"/>
                  <a:pt x="11247" y="3054"/>
                  <a:pt x="11291" y="3099"/>
                </a:cubicBezTo>
                <a:lnTo>
                  <a:pt x="12661" y="4497"/>
                </a:lnTo>
                <a:cubicBezTo>
                  <a:pt x="12704" y="4541"/>
                  <a:pt x="12774" y="4541"/>
                  <a:pt x="12817" y="4497"/>
                </a:cubicBezTo>
                <a:lnTo>
                  <a:pt x="14360" y="2920"/>
                </a:lnTo>
                <a:cubicBezTo>
                  <a:pt x="15302" y="1959"/>
                  <a:pt x="16828" y="1949"/>
                  <a:pt x="17781" y="2891"/>
                </a:cubicBezTo>
                <a:cubicBezTo>
                  <a:pt x="18761" y="3859"/>
                  <a:pt x="18744" y="5490"/>
                  <a:pt x="17779" y="6475"/>
                </a:cubicBezTo>
                <a:lnTo>
                  <a:pt x="11292" y="13102"/>
                </a:lnTo>
                <a:cubicBezTo>
                  <a:pt x="11249" y="13147"/>
                  <a:pt x="11249" y="13220"/>
                  <a:pt x="11292" y="13264"/>
                </a:cubicBezTo>
                <a:lnTo>
                  <a:pt x="12661" y="14662"/>
                </a:lnTo>
                <a:cubicBezTo>
                  <a:pt x="12704" y="14706"/>
                  <a:pt x="12774" y="14706"/>
                  <a:pt x="12817" y="14662"/>
                </a:cubicBezTo>
                <a:lnTo>
                  <a:pt x="19337" y="8002"/>
                </a:lnTo>
                <a:cubicBezTo>
                  <a:pt x="21140" y="6160"/>
                  <a:pt x="21129" y="3156"/>
                  <a:pt x="19304" y="1328"/>
                </a:cubicBezTo>
                <a:cubicBezTo>
                  <a:pt x="18401" y="423"/>
                  <a:pt x="17220" y="-16"/>
                  <a:pt x="16042" y="1"/>
                </a:cubicBezTo>
                <a:close/>
                <a:moveTo>
                  <a:pt x="7941" y="6406"/>
                </a:moveTo>
                <a:cubicBezTo>
                  <a:pt x="7913" y="6406"/>
                  <a:pt x="7886" y="6419"/>
                  <a:pt x="7864" y="6441"/>
                </a:cubicBezTo>
                <a:lnTo>
                  <a:pt x="1387" y="13058"/>
                </a:lnTo>
                <a:cubicBezTo>
                  <a:pt x="-403" y="14886"/>
                  <a:pt x="-460" y="17862"/>
                  <a:pt x="1312" y="19707"/>
                </a:cubicBezTo>
                <a:cubicBezTo>
                  <a:pt x="3102" y="21571"/>
                  <a:pt x="6043" y="21583"/>
                  <a:pt x="7846" y="19740"/>
                </a:cubicBezTo>
                <a:lnTo>
                  <a:pt x="9389" y="18164"/>
                </a:lnTo>
                <a:cubicBezTo>
                  <a:pt x="9432" y="18120"/>
                  <a:pt x="9432" y="18047"/>
                  <a:pt x="9389" y="18003"/>
                </a:cubicBezTo>
                <a:lnTo>
                  <a:pt x="8021" y="16605"/>
                </a:lnTo>
                <a:cubicBezTo>
                  <a:pt x="7977" y="16560"/>
                  <a:pt x="7907" y="16560"/>
                  <a:pt x="7864" y="16605"/>
                </a:cubicBezTo>
                <a:lnTo>
                  <a:pt x="6319" y="18182"/>
                </a:lnTo>
                <a:cubicBezTo>
                  <a:pt x="5379" y="19143"/>
                  <a:pt x="3855" y="19153"/>
                  <a:pt x="2902" y="18212"/>
                </a:cubicBezTo>
                <a:cubicBezTo>
                  <a:pt x="1921" y="17243"/>
                  <a:pt x="1937" y="15613"/>
                  <a:pt x="2902" y="14627"/>
                </a:cubicBezTo>
                <a:lnTo>
                  <a:pt x="9389" y="7999"/>
                </a:lnTo>
                <a:cubicBezTo>
                  <a:pt x="9432" y="7954"/>
                  <a:pt x="9432" y="7883"/>
                  <a:pt x="9389" y="7839"/>
                </a:cubicBezTo>
                <a:lnTo>
                  <a:pt x="8021" y="6441"/>
                </a:lnTo>
                <a:cubicBezTo>
                  <a:pt x="7999" y="6419"/>
                  <a:pt x="7970" y="6406"/>
                  <a:pt x="7941" y="6406"/>
                </a:cubicBezTo>
                <a:close/>
                <a:moveTo>
                  <a:pt x="7764" y="11488"/>
                </a:moveTo>
                <a:cubicBezTo>
                  <a:pt x="7735" y="11488"/>
                  <a:pt x="7706" y="11500"/>
                  <a:pt x="7684" y="11523"/>
                </a:cubicBezTo>
                <a:lnTo>
                  <a:pt x="6316" y="12921"/>
                </a:lnTo>
                <a:cubicBezTo>
                  <a:pt x="6273" y="12965"/>
                  <a:pt x="6273" y="13036"/>
                  <a:pt x="6316" y="13081"/>
                </a:cubicBezTo>
                <a:lnTo>
                  <a:pt x="12793" y="19698"/>
                </a:lnTo>
                <a:cubicBezTo>
                  <a:pt x="14583" y="21526"/>
                  <a:pt x="17497" y="21584"/>
                  <a:pt x="19304" y="19773"/>
                </a:cubicBezTo>
                <a:cubicBezTo>
                  <a:pt x="21129" y="17946"/>
                  <a:pt x="21139" y="14941"/>
                  <a:pt x="19337" y="13099"/>
                </a:cubicBezTo>
                <a:lnTo>
                  <a:pt x="17794" y="11523"/>
                </a:lnTo>
                <a:cubicBezTo>
                  <a:pt x="17750" y="11478"/>
                  <a:pt x="17679" y="11478"/>
                  <a:pt x="17635" y="11523"/>
                </a:cubicBezTo>
                <a:lnTo>
                  <a:pt x="16267" y="12921"/>
                </a:lnTo>
                <a:cubicBezTo>
                  <a:pt x="16223" y="12965"/>
                  <a:pt x="16223" y="13036"/>
                  <a:pt x="16267" y="13081"/>
                </a:cubicBezTo>
                <a:lnTo>
                  <a:pt x="17810" y="14657"/>
                </a:lnTo>
                <a:cubicBezTo>
                  <a:pt x="18751" y="15618"/>
                  <a:pt x="18761" y="17177"/>
                  <a:pt x="17841" y="18151"/>
                </a:cubicBezTo>
                <a:cubicBezTo>
                  <a:pt x="16892" y="19153"/>
                  <a:pt x="15296" y="19135"/>
                  <a:pt x="14331" y="18149"/>
                </a:cubicBezTo>
                <a:lnTo>
                  <a:pt x="7843" y="11523"/>
                </a:lnTo>
                <a:cubicBezTo>
                  <a:pt x="7821" y="11500"/>
                  <a:pt x="7792" y="11488"/>
                  <a:pt x="7764" y="1148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228" name="Text 0"/>
          <p:cNvSpPr txBox="1"/>
          <p:nvPr/>
        </p:nvSpPr>
        <p:spPr>
          <a:xfrm>
            <a:off x="851262" y="5035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╔════════════════════╗</a:t>
            </a:r>
          </a:p>
        </p:txBody>
      </p:sp>
      <p:sp>
        <p:nvSpPr>
          <p:cNvPr id="229" name="Text 1"/>
          <p:cNvSpPr txBox="1"/>
          <p:nvPr/>
        </p:nvSpPr>
        <p:spPr>
          <a:xfrm>
            <a:off x="851262" y="254828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DRIFT HAPPENS: INEVITABLE</a:t>
            </a:r>
          </a:p>
        </p:txBody>
      </p:sp>
      <p:sp>
        <p:nvSpPr>
          <p:cNvPr id="230" name="Text 2"/>
          <p:cNvSpPr txBox="1"/>
          <p:nvPr/>
        </p:nvSpPr>
        <p:spPr>
          <a:xfrm>
            <a:off x="851262" y="59899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╚════════════════════╝</a:t>
            </a:r>
          </a:p>
        </p:txBody>
      </p:sp>
      <p:sp>
        <p:nvSpPr>
          <p:cNvPr id="231" name="Text 3"/>
          <p:cNvSpPr txBox="1"/>
          <p:nvPr/>
        </p:nvSpPr>
        <p:spPr>
          <a:xfrm>
            <a:off x="320040" y="64185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1/7]</a:t>
            </a:r>
          </a:p>
        </p:txBody>
      </p:sp>
      <p:sp>
        <p:nvSpPr>
          <p:cNvPr id="232" name="Text 4"/>
          <p:cNvSpPr txBox="1"/>
          <p:nvPr/>
        </p:nvSpPr>
        <p:spPr>
          <a:xfrm>
            <a:off x="851262" y="931738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./reality_check.sh</a:t>
            </a:r>
          </a:p>
        </p:txBody>
      </p:sp>
      <p:grpSp>
        <p:nvGrpSpPr>
          <p:cNvPr id="239" name="Group"/>
          <p:cNvGrpSpPr/>
          <p:nvPr/>
        </p:nvGrpSpPr>
        <p:grpSpPr>
          <a:xfrm>
            <a:off x="929110" y="1432339"/>
            <a:ext cx="6400801" cy="4754881"/>
            <a:chOff x="0" y="0"/>
            <a:chExt cx="6400800" cy="4754879"/>
          </a:xfrm>
        </p:grpSpPr>
        <p:sp>
          <p:nvSpPr>
            <p:cNvPr id="233" name="Shape 5"/>
            <p:cNvSpPr/>
            <p:nvPr/>
          </p:nvSpPr>
          <p:spPr>
            <a:xfrm>
              <a:off x="0" y="0"/>
              <a:ext cx="6400800" cy="4754880"/>
            </a:xfrm>
            <a:prstGeom prst="rect">
              <a:avLst/>
            </a:prstGeom>
            <a:solidFill>
              <a:srgbClr val="0A0A0A"/>
            </a:solidFill>
            <a:ln w="25400" cap="flat">
              <a:solidFill>
                <a:srgbClr val="FF00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34" name="Shape 6"/>
            <p:cNvSpPr/>
            <p:nvPr/>
          </p:nvSpPr>
          <p:spPr>
            <a:xfrm>
              <a:off x="0" y="0"/>
              <a:ext cx="6400800" cy="137161"/>
            </a:xfrm>
            <a:prstGeom prst="rect">
              <a:avLst/>
            </a:prstGeom>
            <a:solidFill>
              <a:srgbClr val="FF0066"/>
            </a:solidFill>
            <a:ln w="12700" cap="flat">
              <a:solidFill>
                <a:srgbClr val="FF00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35" name="Shape 7"/>
            <p:cNvSpPr/>
            <p:nvPr/>
          </p:nvSpPr>
          <p:spPr>
            <a:xfrm>
              <a:off x="45719" y="45719"/>
              <a:ext cx="45721" cy="45721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36" name="Shape 8"/>
            <p:cNvSpPr/>
            <p:nvPr/>
          </p:nvSpPr>
          <p:spPr>
            <a:xfrm>
              <a:off x="137160" y="45719"/>
              <a:ext cx="45721" cy="45721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37" name="Shape 9"/>
            <p:cNvSpPr/>
            <p:nvPr/>
          </p:nvSpPr>
          <p:spPr>
            <a:xfrm>
              <a:off x="228600" y="45719"/>
              <a:ext cx="45721" cy="45721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38" name="Text 10"/>
            <p:cNvSpPr txBox="1"/>
            <p:nvPr/>
          </p:nvSpPr>
          <p:spPr>
            <a:xfrm>
              <a:off x="228599" y="434647"/>
              <a:ext cx="5943601" cy="4068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━━━━━━━━━━━━━━━━━━━━━━━━━━━━━━━━━━━━━━━━</a:t>
              </a:r>
            </a:p>
            <a:p>
              <a:pPr defTabSz="914400">
                <a:lnSpc>
                  <a:spcPct val="120000"/>
                </a:lnSpc>
                <a:defRPr b="1"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[DRIFT: The Inevitable Truth]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━━━━━━━━━━━━━━━━━━━━━━━━━━━━━━━━━━━━━━━━</a:t>
              </a:r>
            </a:p>
            <a:p>
              <a:pPr defTabSz="914400">
                <a:lnSpc>
                  <a:spcPct val="120000"/>
                </a:lnSpc>
                <a:defRPr sz="10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Three Root Causes:</a:t>
              </a:r>
            </a:p>
            <a:p>
              <a:pPr defTabSz="914400">
                <a:lnSpc>
                  <a:spcPct val="120000"/>
                </a:lnSpc>
                <a:defRPr sz="10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20000"/>
                </a:lnSpc>
                <a:defRPr b="1" sz="1000">
                  <a:solidFill>
                    <a:schemeClr val="accent4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[1] Manual Hotfix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"I'll revert it later" — they never do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→ Console clicks bypass Git</a:t>
              </a:r>
            </a:p>
            <a:p>
              <a:pPr defTabSz="914400">
                <a:lnSpc>
                  <a:spcPct val="120000"/>
                </a:lnSpc>
                <a:defRPr sz="10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20000"/>
                </a:lnSpc>
                <a:defRPr b="1" sz="1000">
                  <a:solidFill>
                    <a:schemeClr val="accent4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[2] Out-of-Band Automation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Lambda / SaaS modifying resources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→ Separate from IaC pipeline</a:t>
              </a:r>
            </a:p>
            <a:p>
              <a:pPr defTabSz="914400">
                <a:lnSpc>
                  <a:spcPct val="120000"/>
                </a:lnSpc>
                <a:defRPr sz="10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20000"/>
                </a:lnSpc>
                <a:defRPr b="1" sz="1000">
                  <a:solidFill>
                    <a:schemeClr val="accent4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[3] Incident Response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SRE changes infra at 2am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→ PR deferred forever</a:t>
              </a:r>
            </a:p>
            <a:p>
              <a:pPr defTabSz="914400">
                <a:lnSpc>
                  <a:spcPct val="120000"/>
                </a:lnSpc>
                <a:defRPr sz="10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━━━━━━━━━━━━━━━━━━━━━━━━━━━━━━━━━━━━━━━━</a:t>
              </a:r>
            </a:p>
            <a:p>
              <a:pPr defTabSz="914400">
                <a:lnSpc>
                  <a:spcPct val="120000"/>
                </a:lnSpc>
                <a:defRPr sz="10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b="1">
                  <a:solidFill>
                    <a:schemeClr val="accent4"/>
                  </a:solidFill>
                </a:rPr>
                <a:t>[INSIGHT]:</a:t>
              </a:r>
              <a:r>
                <a:t> Drift is not a failure of IaC.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It's a property of humans operating</a:t>
              </a:r>
            </a:p>
            <a:p>
              <a:pPr defTabSz="914400">
                <a:lnSpc>
                  <a:spcPct val="120000"/>
                </a:lnSpc>
                <a:defRPr sz="10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dynamic systems under pressure.</a:t>
              </a:r>
            </a:p>
          </p:txBody>
        </p:sp>
      </p:grpSp>
      <p:sp>
        <p:nvSpPr>
          <p:cNvPr id="240" name="Text 10"/>
          <p:cNvSpPr txBox="1"/>
          <p:nvPr/>
        </p:nvSpPr>
        <p:spPr>
          <a:xfrm>
            <a:off x="7440647" y="4211467"/>
            <a:ext cx="3224865" cy="204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b="1" sz="9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cat drift_stats.txt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PRODUCTION REALITY: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Avg time to first drift: </a:t>
            </a:r>
            <a:r>
              <a:rPr>
                <a:solidFill>
                  <a:srgbClr val="4472C4"/>
                </a:solidFill>
              </a:rPr>
              <a:t>18 hours</a:t>
            </a:r>
            <a:endParaRPr>
              <a:solidFill>
                <a:srgbClr val="4472C4"/>
              </a:solidFill>
            </a:endParaR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Drift events per week:   </a:t>
            </a:r>
            <a:r>
              <a:rPr>
                <a:solidFill>
                  <a:srgbClr val="4472C4"/>
                </a:solidFill>
              </a:rPr>
              <a:t>12-15</a:t>
            </a:r>
            <a:endParaRPr>
              <a:solidFill>
                <a:srgbClr val="4472C4"/>
              </a:solidFill>
            </a:endParaR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Source breakdown: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F29E6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Manual:     60%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F29E6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Automated:  25%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F29E6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Incidents:  15%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Detection without tooling: Days to weeks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Impact: Silent accumulation</a:t>
            </a:r>
          </a:p>
        </p:txBody>
      </p:sp>
      <p:sp>
        <p:nvSpPr>
          <p:cNvPr id="241" name="Shape 0"/>
          <p:cNvSpPr/>
          <p:nvPr/>
        </p:nvSpPr>
        <p:spPr>
          <a:xfrm>
            <a:off x="6397034" y="612356"/>
            <a:ext cx="4114802" cy="3003220"/>
          </a:xfrm>
          <a:prstGeom prst="rect">
            <a:avLst/>
          </a:prstGeom>
          <a:solidFill>
            <a:srgbClr val="0A0A0A"/>
          </a:solidFill>
          <a:ln w="19050">
            <a:solidFill>
              <a:srgbClr val="39FF14"/>
            </a:solidFill>
          </a:ln>
        </p:spPr>
        <p:txBody>
          <a:bodyPr lIns="45718" tIns="45718" rIns="45718" bIns="45718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2" name="Text 1"/>
          <p:cNvSpPr txBox="1"/>
          <p:nvPr/>
        </p:nvSpPr>
        <p:spPr>
          <a:xfrm>
            <a:off x="6625634" y="797778"/>
            <a:ext cx="3657602" cy="269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914400">
              <a:defRPr b="1" sz="12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[DECLARED STATE]</a:t>
            </a:r>
          </a:p>
        </p:txBody>
      </p:sp>
      <p:sp>
        <p:nvSpPr>
          <p:cNvPr id="243" name="Text 2"/>
          <p:cNvSpPr txBox="1"/>
          <p:nvPr/>
        </p:nvSpPr>
        <p:spPr>
          <a:xfrm>
            <a:off x="6798356" y="1275956"/>
            <a:ext cx="3474719" cy="77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aws_security_group.api_sg {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ingress {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cidr_blocks = ["10.0.0.0/8"]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description = "Internal only"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244" name="Text 2"/>
          <p:cNvSpPr txBox="1"/>
          <p:nvPr/>
        </p:nvSpPr>
        <p:spPr>
          <a:xfrm>
            <a:off x="6717075" y="2596651"/>
            <a:ext cx="3474720" cy="77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aws_security_group.api_sg {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ingress {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cidr_blocks = ["0.0.0.0/0"]  ← DRIFT!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description = ""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>
              <a:defRPr sz="8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245" name="Text 1"/>
          <p:cNvSpPr txBox="1"/>
          <p:nvPr/>
        </p:nvSpPr>
        <p:spPr>
          <a:xfrm>
            <a:off x="6625634" y="2190303"/>
            <a:ext cx="365760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914400">
              <a:defRPr b="1" sz="120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[ACTUAL STATE]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248" name="Text 0"/>
          <p:cNvSpPr txBox="1"/>
          <p:nvPr/>
        </p:nvSpPr>
        <p:spPr>
          <a:xfrm>
            <a:off x="863819" y="62675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╔═══════════════════════╗</a:t>
            </a:r>
          </a:p>
        </p:txBody>
      </p:sp>
      <p:sp>
        <p:nvSpPr>
          <p:cNvPr id="249" name="Text 1"/>
          <p:cNvSpPr txBox="1"/>
          <p:nvPr/>
        </p:nvSpPr>
        <p:spPr>
          <a:xfrm>
            <a:off x="863819" y="267145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DRIFT = MULTI-DOMAIN INCIDENT</a:t>
            </a:r>
          </a:p>
        </p:txBody>
      </p:sp>
      <p:sp>
        <p:nvSpPr>
          <p:cNvPr id="250" name="Text 2"/>
          <p:cNvSpPr txBox="1"/>
          <p:nvPr/>
        </p:nvSpPr>
        <p:spPr>
          <a:xfrm>
            <a:off x="863819" y="611315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╚═══════════════════════╝</a:t>
            </a:r>
          </a:p>
        </p:txBody>
      </p:sp>
      <p:sp>
        <p:nvSpPr>
          <p:cNvPr id="251" name="Text 3"/>
          <p:cNvSpPr txBox="1"/>
          <p:nvPr/>
        </p:nvSpPr>
        <p:spPr>
          <a:xfrm>
            <a:off x="301196" y="64185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1/7]</a:t>
            </a:r>
          </a:p>
        </p:txBody>
      </p:sp>
      <p:sp>
        <p:nvSpPr>
          <p:cNvPr id="252" name="Text 4"/>
          <p:cNvSpPr txBox="1"/>
          <p:nvPr/>
        </p:nvSpPr>
        <p:spPr>
          <a:xfrm>
            <a:off x="863819" y="944055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2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analyze --impact=full</a:t>
            </a:r>
          </a:p>
        </p:txBody>
      </p:sp>
      <p:sp>
        <p:nvSpPr>
          <p:cNvPr id="253" name="Shape 5"/>
          <p:cNvSpPr/>
          <p:nvPr/>
        </p:nvSpPr>
        <p:spPr>
          <a:xfrm>
            <a:off x="909539" y="1513015"/>
            <a:ext cx="1920241" cy="164592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4" name="Shape 6"/>
          <p:cNvSpPr/>
          <p:nvPr/>
        </p:nvSpPr>
        <p:spPr>
          <a:xfrm>
            <a:off x="909539" y="1513015"/>
            <a:ext cx="1920241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Shape 7"/>
          <p:cNvSpPr/>
          <p:nvPr/>
        </p:nvSpPr>
        <p:spPr>
          <a:xfrm>
            <a:off x="974103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Shape 8"/>
          <p:cNvSpPr/>
          <p:nvPr/>
        </p:nvSpPr>
        <p:spPr>
          <a:xfrm>
            <a:off x="1065543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7" name="Shape 9"/>
          <p:cNvSpPr/>
          <p:nvPr/>
        </p:nvSpPr>
        <p:spPr>
          <a:xfrm>
            <a:off x="1156983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8" name="Text 11"/>
          <p:cNvSpPr txBox="1"/>
          <p:nvPr/>
        </p:nvSpPr>
        <p:spPr>
          <a:xfrm>
            <a:off x="1037277" y="2063766"/>
            <a:ext cx="164592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INFRASTRUCTURE</a:t>
            </a:r>
          </a:p>
        </p:txBody>
      </p:sp>
      <p:sp>
        <p:nvSpPr>
          <p:cNvPr id="259" name="Text 12"/>
          <p:cNvSpPr txBox="1"/>
          <p:nvPr/>
        </p:nvSpPr>
        <p:spPr>
          <a:xfrm>
            <a:off x="1046699" y="2393125"/>
            <a:ext cx="16459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t3.micro → m5.4xlarge</a:t>
            </a:r>
          </a:p>
        </p:txBody>
      </p:sp>
      <p:sp>
        <p:nvSpPr>
          <p:cNvPr id="260" name="Text 13"/>
          <p:cNvSpPr txBox="1"/>
          <p:nvPr/>
        </p:nvSpPr>
        <p:spPr>
          <a:xfrm>
            <a:off x="1046699" y="2804605"/>
            <a:ext cx="16459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$5,200 unexpected bill</a:t>
            </a:r>
          </a:p>
        </p:txBody>
      </p:sp>
      <p:sp>
        <p:nvSpPr>
          <p:cNvPr id="261" name="Shape 14"/>
          <p:cNvSpPr/>
          <p:nvPr/>
        </p:nvSpPr>
        <p:spPr>
          <a:xfrm>
            <a:off x="3012659" y="1513015"/>
            <a:ext cx="1920241" cy="164592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2" name="Shape 15"/>
          <p:cNvSpPr/>
          <p:nvPr/>
        </p:nvSpPr>
        <p:spPr>
          <a:xfrm>
            <a:off x="3012659" y="1513015"/>
            <a:ext cx="192024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3" name="Shape 16"/>
          <p:cNvSpPr/>
          <p:nvPr/>
        </p:nvSpPr>
        <p:spPr>
          <a:xfrm>
            <a:off x="305837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4" name="Shape 17"/>
          <p:cNvSpPr/>
          <p:nvPr/>
        </p:nvSpPr>
        <p:spPr>
          <a:xfrm>
            <a:off x="314981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5" name="Shape 18"/>
          <p:cNvSpPr/>
          <p:nvPr/>
        </p:nvSpPr>
        <p:spPr>
          <a:xfrm>
            <a:off x="324125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6" name="Text 20"/>
          <p:cNvSpPr txBox="1"/>
          <p:nvPr/>
        </p:nvSpPr>
        <p:spPr>
          <a:xfrm>
            <a:off x="3140397" y="2063766"/>
            <a:ext cx="164592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267" name="Text 21"/>
          <p:cNvSpPr txBox="1"/>
          <p:nvPr/>
        </p:nvSpPr>
        <p:spPr>
          <a:xfrm>
            <a:off x="3149819" y="2393125"/>
            <a:ext cx="16459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Port 22 → 0.0.0.0/0</a:t>
            </a:r>
          </a:p>
        </p:txBody>
      </p:sp>
      <p:sp>
        <p:nvSpPr>
          <p:cNvPr id="268" name="Text 22"/>
          <p:cNvSpPr txBox="1"/>
          <p:nvPr/>
        </p:nvSpPr>
        <p:spPr>
          <a:xfrm>
            <a:off x="3149819" y="2747455"/>
            <a:ext cx="164592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CIS violation · active exposure</a:t>
            </a:r>
          </a:p>
        </p:txBody>
      </p:sp>
      <p:sp>
        <p:nvSpPr>
          <p:cNvPr id="269" name="Shape 23"/>
          <p:cNvSpPr/>
          <p:nvPr/>
        </p:nvSpPr>
        <p:spPr>
          <a:xfrm>
            <a:off x="5115779" y="1513015"/>
            <a:ext cx="1920241" cy="1645921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0" name="Shape 24"/>
          <p:cNvSpPr/>
          <p:nvPr/>
        </p:nvSpPr>
        <p:spPr>
          <a:xfrm>
            <a:off x="5115779" y="1513015"/>
            <a:ext cx="1920241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Shape 25"/>
          <p:cNvSpPr/>
          <p:nvPr/>
        </p:nvSpPr>
        <p:spPr>
          <a:xfrm>
            <a:off x="516149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2" name="Shape 26"/>
          <p:cNvSpPr/>
          <p:nvPr/>
        </p:nvSpPr>
        <p:spPr>
          <a:xfrm>
            <a:off x="525293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3" name="Shape 27"/>
          <p:cNvSpPr/>
          <p:nvPr/>
        </p:nvSpPr>
        <p:spPr>
          <a:xfrm>
            <a:off x="534437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4" name="Text 29"/>
          <p:cNvSpPr txBox="1"/>
          <p:nvPr/>
        </p:nvSpPr>
        <p:spPr>
          <a:xfrm>
            <a:off x="5243517" y="2063766"/>
            <a:ext cx="164592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NETWORK</a:t>
            </a:r>
          </a:p>
        </p:txBody>
      </p:sp>
      <p:sp>
        <p:nvSpPr>
          <p:cNvPr id="275" name="Text 30"/>
          <p:cNvSpPr txBox="1"/>
          <p:nvPr/>
        </p:nvSpPr>
        <p:spPr>
          <a:xfrm>
            <a:off x="5252939" y="2393125"/>
            <a:ext cx="16459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Route table modified</a:t>
            </a:r>
          </a:p>
        </p:txBody>
      </p:sp>
      <p:sp>
        <p:nvSpPr>
          <p:cNvPr id="276" name="Text 31"/>
          <p:cNvSpPr txBox="1"/>
          <p:nvPr/>
        </p:nvSpPr>
        <p:spPr>
          <a:xfrm>
            <a:off x="5252939" y="2804605"/>
            <a:ext cx="16459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45-min service disruption</a:t>
            </a:r>
          </a:p>
        </p:txBody>
      </p:sp>
      <p:sp>
        <p:nvSpPr>
          <p:cNvPr id="277" name="Shape 32"/>
          <p:cNvSpPr/>
          <p:nvPr/>
        </p:nvSpPr>
        <p:spPr>
          <a:xfrm>
            <a:off x="7218899" y="1513015"/>
            <a:ext cx="1920241" cy="1645921"/>
          </a:xfrm>
          <a:prstGeom prst="rect">
            <a:avLst/>
          </a:prstGeom>
          <a:solidFill>
            <a:srgbClr val="0A0A0A"/>
          </a:solidFill>
          <a:ln w="25400">
            <a:solidFill>
              <a:srgbClr val="FFD7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8" name="Shape 33"/>
          <p:cNvSpPr/>
          <p:nvPr/>
        </p:nvSpPr>
        <p:spPr>
          <a:xfrm>
            <a:off x="7218899" y="1513015"/>
            <a:ext cx="1920241" cy="137161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9" name="Shape 34"/>
          <p:cNvSpPr/>
          <p:nvPr/>
        </p:nvSpPr>
        <p:spPr>
          <a:xfrm>
            <a:off x="726461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Shape 35"/>
          <p:cNvSpPr/>
          <p:nvPr/>
        </p:nvSpPr>
        <p:spPr>
          <a:xfrm>
            <a:off x="735605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1" name="Shape 36"/>
          <p:cNvSpPr/>
          <p:nvPr/>
        </p:nvSpPr>
        <p:spPr>
          <a:xfrm>
            <a:off x="7447499" y="155873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Text 38"/>
          <p:cNvSpPr txBox="1"/>
          <p:nvPr/>
        </p:nvSpPr>
        <p:spPr>
          <a:xfrm>
            <a:off x="7346637" y="2063766"/>
            <a:ext cx="164592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COMPLIANCE</a:t>
            </a:r>
          </a:p>
        </p:txBody>
      </p:sp>
      <p:sp>
        <p:nvSpPr>
          <p:cNvPr id="283" name="Text 39"/>
          <p:cNvSpPr txBox="1"/>
          <p:nvPr/>
        </p:nvSpPr>
        <p:spPr>
          <a:xfrm>
            <a:off x="7356059" y="2393125"/>
            <a:ext cx="16459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RDS encryption disabled</a:t>
            </a:r>
          </a:p>
        </p:txBody>
      </p:sp>
      <p:sp>
        <p:nvSpPr>
          <p:cNvPr id="284" name="Text 40"/>
          <p:cNvSpPr txBox="1"/>
          <p:nvPr/>
        </p:nvSpPr>
        <p:spPr>
          <a:xfrm>
            <a:off x="7356059" y="2747455"/>
            <a:ext cx="164592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Audit failure · regulatory fine</a:t>
            </a:r>
          </a:p>
        </p:txBody>
      </p:sp>
      <p:sp>
        <p:nvSpPr>
          <p:cNvPr id="285" name="Shape 41"/>
          <p:cNvSpPr/>
          <p:nvPr/>
        </p:nvSpPr>
        <p:spPr>
          <a:xfrm>
            <a:off x="907843" y="3514947"/>
            <a:ext cx="8259236" cy="2560321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Text 42"/>
          <p:cNvSpPr txBox="1"/>
          <p:nvPr/>
        </p:nvSpPr>
        <p:spPr>
          <a:xfrm>
            <a:off x="1136443" y="3644487"/>
            <a:ext cx="68580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[KEY INSIGHT]</a:t>
            </a:r>
          </a:p>
        </p:txBody>
      </p:sp>
      <p:sp>
        <p:nvSpPr>
          <p:cNvPr id="287" name="Text 43"/>
          <p:cNvSpPr txBox="1"/>
          <p:nvPr/>
        </p:nvSpPr>
        <p:spPr>
          <a:xfrm>
            <a:off x="1227883" y="4107985"/>
            <a:ext cx="6675121" cy="1557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 single console click on a security group can simultaneously be:</a:t>
            </a:r>
          </a:p>
          <a:p>
            <a:pPr defTabSz="914400">
              <a:lnSpc>
                <a:spcPct val="130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An infrastructure drift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A security incident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A network policy violation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A compliance finding</a:t>
            </a:r>
          </a:p>
          <a:p>
            <a:pPr defTabSz="914400">
              <a:lnSpc>
                <a:spcPct val="130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Your current tooling sees these as 3 separate unrelated alerts.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Across 3 teams. On 3 different timelines. No shared context.</a:t>
            </a:r>
          </a:p>
        </p:txBody>
      </p:sp>
      <p:sp>
        <p:nvSpPr>
          <p:cNvPr id="288" name="Text 10"/>
          <p:cNvSpPr txBox="1"/>
          <p:nvPr/>
        </p:nvSpPr>
        <p:spPr>
          <a:xfrm>
            <a:off x="1693025" y="1670495"/>
            <a:ext cx="365762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914400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🏗️</a:t>
            </a:r>
          </a:p>
        </p:txBody>
      </p:sp>
      <p:sp>
        <p:nvSpPr>
          <p:cNvPr id="289" name="Text 19"/>
          <p:cNvSpPr txBox="1"/>
          <p:nvPr/>
        </p:nvSpPr>
        <p:spPr>
          <a:xfrm>
            <a:off x="3789899" y="1670495"/>
            <a:ext cx="365761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914400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🔐</a:t>
            </a:r>
          </a:p>
        </p:txBody>
      </p:sp>
      <p:sp>
        <p:nvSpPr>
          <p:cNvPr id="290" name="Text 28"/>
          <p:cNvSpPr txBox="1"/>
          <p:nvPr/>
        </p:nvSpPr>
        <p:spPr>
          <a:xfrm>
            <a:off x="5893019" y="1670495"/>
            <a:ext cx="365762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914400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🌐</a:t>
            </a:r>
          </a:p>
        </p:txBody>
      </p:sp>
      <p:sp>
        <p:nvSpPr>
          <p:cNvPr id="291" name="Text 37"/>
          <p:cNvSpPr txBox="1"/>
          <p:nvPr/>
        </p:nvSpPr>
        <p:spPr>
          <a:xfrm>
            <a:off x="7996139" y="1670495"/>
            <a:ext cx="365762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914400"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294" name="Text 0"/>
          <p:cNvSpPr txBox="1"/>
          <p:nvPr/>
        </p:nvSpPr>
        <p:spPr>
          <a:xfrm>
            <a:off x="876519" y="3809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╔════════════════════════╗</a:t>
            </a:r>
          </a:p>
        </p:txBody>
      </p:sp>
      <p:sp>
        <p:nvSpPr>
          <p:cNvPr id="295" name="Text 1"/>
          <p:cNvSpPr txBox="1"/>
          <p:nvPr/>
        </p:nvSpPr>
        <p:spPr>
          <a:xfrm>
            <a:off x="876519" y="24257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THREE TOOLS · ZERO COORDINATION</a:t>
            </a:r>
          </a:p>
        </p:txBody>
      </p:sp>
      <p:sp>
        <p:nvSpPr>
          <p:cNvPr id="296" name="Text 2"/>
          <p:cNvSpPr txBox="1"/>
          <p:nvPr/>
        </p:nvSpPr>
        <p:spPr>
          <a:xfrm>
            <a:off x="876519" y="58674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╚════════════════════════╝</a:t>
            </a:r>
          </a:p>
        </p:txBody>
      </p:sp>
      <p:sp>
        <p:nvSpPr>
          <p:cNvPr id="297" name="Text 3"/>
          <p:cNvSpPr txBox="1"/>
          <p:nvPr/>
        </p:nvSpPr>
        <p:spPr>
          <a:xfrm>
            <a:off x="320040" y="64185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2/7]</a:t>
            </a:r>
          </a:p>
        </p:txBody>
      </p:sp>
      <p:sp>
        <p:nvSpPr>
          <p:cNvPr id="298" name="Text 4"/>
          <p:cNvSpPr txBox="1"/>
          <p:nvPr/>
        </p:nvSpPr>
        <p:spPr>
          <a:xfrm>
            <a:off x="876519" y="919480"/>
            <a:ext cx="813816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ps aux | grep detection</a:t>
            </a:r>
          </a:p>
        </p:txBody>
      </p:sp>
      <p:sp>
        <p:nvSpPr>
          <p:cNvPr id="299" name="Shape 5"/>
          <p:cNvSpPr/>
          <p:nvPr/>
        </p:nvSpPr>
        <p:spPr>
          <a:xfrm>
            <a:off x="922239" y="1488439"/>
            <a:ext cx="2560321" cy="274320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Shape 6"/>
          <p:cNvSpPr/>
          <p:nvPr/>
        </p:nvSpPr>
        <p:spPr>
          <a:xfrm>
            <a:off x="922239" y="1488439"/>
            <a:ext cx="2560321" cy="20574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1" name="Shape 7"/>
          <p:cNvSpPr/>
          <p:nvPr/>
        </p:nvSpPr>
        <p:spPr>
          <a:xfrm>
            <a:off x="96795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2" name="Shape 8"/>
          <p:cNvSpPr/>
          <p:nvPr/>
        </p:nvSpPr>
        <p:spPr>
          <a:xfrm>
            <a:off x="105939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Shape 9"/>
          <p:cNvSpPr/>
          <p:nvPr/>
        </p:nvSpPr>
        <p:spPr>
          <a:xfrm>
            <a:off x="115083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Text 10"/>
          <p:cNvSpPr txBox="1"/>
          <p:nvPr/>
        </p:nvSpPr>
        <p:spPr>
          <a:xfrm>
            <a:off x="967959" y="1482089"/>
            <a:ext cx="24688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[INFRAOPS]</a:t>
            </a:r>
          </a:p>
        </p:txBody>
      </p:sp>
      <p:sp>
        <p:nvSpPr>
          <p:cNvPr id="305" name="Text 11"/>
          <p:cNvSpPr txBox="1"/>
          <p:nvPr/>
        </p:nvSpPr>
        <p:spPr>
          <a:xfrm>
            <a:off x="1105120" y="1844039"/>
            <a:ext cx="2194561" cy="219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terraform plan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driftctl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Atlantis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Sees: attr diffs</a:t>
            </a:r>
          </a:p>
          <a:p>
            <a:pPr defTabSz="914400">
              <a:lnSpc>
                <a:spcPct val="120000"/>
              </a:lnSpc>
              <a:defRPr sz="9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Action: Create Terraform PR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T+4min: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sg-0abc123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CIDR drifted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Ticket: </a:t>
            </a:r>
            <a:r>
              <a:rPr b="1"/>
              <a:t>INFRA-8472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Queue: </a:t>
            </a:r>
            <a:r>
              <a:rPr>
                <a:solidFill>
                  <a:schemeClr val="accent2"/>
                </a:solidFill>
              </a:rPr>
              <a:t>Platform Team</a:t>
            </a:r>
          </a:p>
        </p:txBody>
      </p:sp>
      <p:sp>
        <p:nvSpPr>
          <p:cNvPr id="306" name="Shape 14"/>
          <p:cNvSpPr/>
          <p:nvPr/>
        </p:nvSpPr>
        <p:spPr>
          <a:xfrm>
            <a:off x="3756879" y="1488439"/>
            <a:ext cx="2560321" cy="274320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7" name="Shape 15"/>
          <p:cNvSpPr/>
          <p:nvPr/>
        </p:nvSpPr>
        <p:spPr>
          <a:xfrm>
            <a:off x="3756879" y="1488439"/>
            <a:ext cx="2560321" cy="20574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8" name="Shape 16"/>
          <p:cNvSpPr/>
          <p:nvPr/>
        </p:nvSpPr>
        <p:spPr>
          <a:xfrm>
            <a:off x="380259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Shape 17"/>
          <p:cNvSpPr/>
          <p:nvPr/>
        </p:nvSpPr>
        <p:spPr>
          <a:xfrm>
            <a:off x="389403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Shape 18"/>
          <p:cNvSpPr/>
          <p:nvPr/>
        </p:nvSpPr>
        <p:spPr>
          <a:xfrm>
            <a:off x="398547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1" name="Text 19"/>
          <p:cNvSpPr txBox="1"/>
          <p:nvPr/>
        </p:nvSpPr>
        <p:spPr>
          <a:xfrm>
            <a:off x="3799425" y="1482089"/>
            <a:ext cx="24688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[SECOPS]</a:t>
            </a:r>
          </a:p>
        </p:txBody>
      </p:sp>
      <p:sp>
        <p:nvSpPr>
          <p:cNvPr id="312" name="Text 20"/>
          <p:cNvSpPr txBox="1"/>
          <p:nvPr/>
        </p:nvSpPr>
        <p:spPr>
          <a:xfrm>
            <a:off x="3936584" y="1844039"/>
            <a:ext cx="2194561" cy="219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Prisma Cloud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AWS Config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SecurityHub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Sees: policy violations</a:t>
            </a:r>
          </a:p>
          <a:p>
            <a:pPr defTabSz="914400">
              <a:lnSpc>
                <a:spcPct val="120000"/>
              </a:lnSpc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Action: Flag for remediation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T+3hr: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Port 22 open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 internet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Ticket: </a:t>
            </a:r>
            <a:r>
              <a:rPr b="1"/>
              <a:t>SEC-2109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Queue: </a:t>
            </a:r>
            <a:r>
              <a:rPr>
                <a:solidFill>
                  <a:schemeClr val="accent2"/>
                </a:solidFill>
              </a:rPr>
              <a:t>Security Team</a:t>
            </a:r>
          </a:p>
        </p:txBody>
      </p:sp>
      <p:sp>
        <p:nvSpPr>
          <p:cNvPr id="313" name="Shape 23"/>
          <p:cNvSpPr/>
          <p:nvPr/>
        </p:nvSpPr>
        <p:spPr>
          <a:xfrm>
            <a:off x="6591520" y="1488439"/>
            <a:ext cx="2560321" cy="2743201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4" name="Shape 24"/>
          <p:cNvSpPr/>
          <p:nvPr/>
        </p:nvSpPr>
        <p:spPr>
          <a:xfrm>
            <a:off x="6591520" y="1488439"/>
            <a:ext cx="2560321" cy="20574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Shape 25"/>
          <p:cNvSpPr/>
          <p:nvPr/>
        </p:nvSpPr>
        <p:spPr>
          <a:xfrm>
            <a:off x="663723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6" name="Shape 26"/>
          <p:cNvSpPr/>
          <p:nvPr/>
        </p:nvSpPr>
        <p:spPr>
          <a:xfrm>
            <a:off x="6728679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7" name="Shape 27"/>
          <p:cNvSpPr/>
          <p:nvPr/>
        </p:nvSpPr>
        <p:spPr>
          <a:xfrm>
            <a:off x="6820120" y="153416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8" name="Text 28"/>
          <p:cNvSpPr txBox="1"/>
          <p:nvPr/>
        </p:nvSpPr>
        <p:spPr>
          <a:xfrm>
            <a:off x="6637239" y="1482089"/>
            <a:ext cx="24688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[NETOPS]</a:t>
            </a:r>
          </a:p>
        </p:txBody>
      </p:sp>
      <p:sp>
        <p:nvSpPr>
          <p:cNvPr id="319" name="Text 29"/>
          <p:cNvSpPr txBox="1"/>
          <p:nvPr/>
        </p:nvSpPr>
        <p:spPr>
          <a:xfrm>
            <a:off x="6774399" y="1844039"/>
            <a:ext cx="2194561" cy="219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Batfish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NetBox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NAPALM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Sees: route/ACL diffs</a:t>
            </a:r>
          </a:p>
          <a:p>
            <a:pPr defTabSz="914400">
              <a:lnSpc>
                <a:spcPct val="120000"/>
              </a:lnSpc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Action: Check network impact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T+9hr: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(nothing—it's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an SG, not route)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Ticket: </a:t>
            </a:r>
            <a:r>
              <a:rPr b="1"/>
              <a:t>None</a:t>
            </a:r>
          </a:p>
          <a:p>
            <a:pPr defTabSz="914400">
              <a:lnSpc>
                <a:spcPct val="12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Queue: </a:t>
            </a:r>
            <a:r>
              <a:rPr>
                <a:solidFill>
                  <a:srgbClr val="E01B13"/>
                </a:solidFill>
              </a:rPr>
              <a:t>Not routed</a:t>
            </a:r>
          </a:p>
        </p:txBody>
      </p:sp>
      <p:sp>
        <p:nvSpPr>
          <p:cNvPr id="320" name="Shape 32"/>
          <p:cNvSpPr/>
          <p:nvPr/>
        </p:nvSpPr>
        <p:spPr>
          <a:xfrm>
            <a:off x="920543" y="4436745"/>
            <a:ext cx="8232993" cy="1463041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Text 33"/>
          <p:cNvSpPr txBox="1"/>
          <p:nvPr/>
        </p:nvSpPr>
        <p:spPr>
          <a:xfrm>
            <a:off x="1149143" y="4472252"/>
            <a:ext cx="7775793" cy="13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 defTabSz="914400">
              <a:lnSpc>
                <a:spcPct val="130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[THE GAP]</a:t>
            </a:r>
          </a:p>
          <a:p>
            <a:pPr algn="ctr" defTabSz="914400">
              <a:lnSpc>
                <a:spcPct val="130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algn="ctr" defTabSz="914400">
              <a:lnSpc>
                <a:spcPct val="130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 shared resource model</a:t>
            </a:r>
          </a:p>
          <a:p>
            <a:pPr algn="ctr" defTabSz="914400">
              <a:lnSpc>
                <a:spcPct val="130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 blast radius analysis</a:t>
            </a:r>
          </a:p>
          <a:p>
            <a:pPr algn="ctr" defTabSz="914400">
              <a:lnSpc>
                <a:spcPct val="130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 causal chain</a:t>
            </a:r>
          </a:p>
          <a:p>
            <a:pPr algn="ctr" defTabSz="914400">
              <a:lnSpc>
                <a:spcPct val="130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 tickets · 3 queues · 3 SLAs</a:t>
            </a:r>
          </a:p>
          <a:p>
            <a:pPr algn="ctr" defTabSz="914400">
              <a:lnSpc>
                <a:spcPct val="130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algn="ctr" defTabSz="914400">
              <a:lnSpc>
                <a:spcPct val="130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Same root cause. Three fragments. Zero picture.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324" name="Text 0"/>
          <p:cNvSpPr txBox="1"/>
          <p:nvPr/>
        </p:nvSpPr>
        <p:spPr>
          <a:xfrm>
            <a:off x="870375" y="3154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╔════════════════════════╗</a:t>
            </a:r>
          </a:p>
        </p:txBody>
      </p:sp>
      <p:sp>
        <p:nvSpPr>
          <p:cNvPr id="325" name="Text 1"/>
          <p:cNvSpPr txBox="1"/>
          <p:nvPr/>
        </p:nvSpPr>
        <p:spPr>
          <a:xfrm>
            <a:off x="870375" y="236013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INCIDENT NOBODY CAUGHT IN TIME</a:t>
            </a:r>
          </a:p>
        </p:txBody>
      </p:sp>
      <p:sp>
        <p:nvSpPr>
          <p:cNvPr id="326" name="Text 2"/>
          <p:cNvSpPr txBox="1"/>
          <p:nvPr/>
        </p:nvSpPr>
        <p:spPr>
          <a:xfrm>
            <a:off x="870375" y="58018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╚════════════════════════╝</a:t>
            </a:r>
          </a:p>
        </p:txBody>
      </p:sp>
      <p:sp>
        <p:nvSpPr>
          <p:cNvPr id="327" name="Text 3"/>
          <p:cNvSpPr txBox="1"/>
          <p:nvPr/>
        </p:nvSpPr>
        <p:spPr>
          <a:xfrm>
            <a:off x="687495" y="6437423"/>
            <a:ext cx="1280162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2/7]</a:t>
            </a:r>
          </a:p>
        </p:txBody>
      </p:sp>
      <p:sp>
        <p:nvSpPr>
          <p:cNvPr id="328" name="Text 4"/>
          <p:cNvSpPr txBox="1"/>
          <p:nvPr/>
        </p:nvSpPr>
        <p:spPr>
          <a:xfrm>
            <a:off x="870375" y="912923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postmortem.txt</a:t>
            </a:r>
          </a:p>
        </p:txBody>
      </p:sp>
      <p:sp>
        <p:nvSpPr>
          <p:cNvPr id="329" name="Shape 5"/>
          <p:cNvSpPr/>
          <p:nvPr/>
        </p:nvSpPr>
        <p:spPr>
          <a:xfrm>
            <a:off x="1007535" y="1390443"/>
            <a:ext cx="7863842" cy="483870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Shape 6"/>
          <p:cNvSpPr/>
          <p:nvPr/>
        </p:nvSpPr>
        <p:spPr>
          <a:xfrm>
            <a:off x="1007535" y="1390443"/>
            <a:ext cx="7863842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Shape 7"/>
          <p:cNvSpPr/>
          <p:nvPr/>
        </p:nvSpPr>
        <p:spPr>
          <a:xfrm>
            <a:off x="1053255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2" name="Shape 8"/>
          <p:cNvSpPr/>
          <p:nvPr/>
        </p:nvSpPr>
        <p:spPr>
          <a:xfrm>
            <a:off x="1144695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3" name="Shape 9"/>
          <p:cNvSpPr/>
          <p:nvPr/>
        </p:nvSpPr>
        <p:spPr>
          <a:xfrm>
            <a:off x="1236135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4" name="Text 10"/>
          <p:cNvSpPr txBox="1"/>
          <p:nvPr/>
        </p:nvSpPr>
        <p:spPr>
          <a:xfrm>
            <a:off x="1190416" y="1603842"/>
            <a:ext cx="7498080" cy="4562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COMPOSITE INCIDENT POSTMORTEM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Service: api.platform.example.com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Exposure Window: 19 hours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2"/>
                </a:solidFill>
              </a:rPr>
              <a:t>T+0:00</a:t>
            </a:r>
            <a:r>
              <a:t>  Developer opens </a:t>
            </a:r>
            <a:r>
              <a:rPr b="1"/>
              <a:t>sg-0abc123</a:t>
            </a:r>
            <a:r>
              <a:t> to 0.0.0.0/0:22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Console change. Fast. "</a:t>
            </a:r>
            <a:r>
              <a:rPr b="1">
                <a:solidFill>
                  <a:srgbClr val="E03E28"/>
                </a:solidFill>
              </a:rPr>
              <a:t>Just for quick debug.</a:t>
            </a:r>
            <a:r>
              <a:t>"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No ticket. No PR. Will revert it. Later.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4"/>
                </a:solidFill>
              </a:rPr>
              <a:t>T+0:04</a:t>
            </a:r>
            <a:r>
              <a:t>  Terraform state polling detects drift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→ InfraOps ticket: "sg-0abc123 CIDR changed"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→ Priority: MEDIUM (just a CIDR diff, no context)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→ SLA: 4 hours. Queued.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1"/>
                </a:solidFill>
              </a:rPr>
              <a:t>T+3:44</a:t>
            </a:r>
            <a:r>
              <a:t>  CSPM scan completes (runs every 3 hours)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→ SecOps alert: "CIS 5.2 — SSH open to internet"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→ Priority: HIGH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→ NEW SecOps ticket, fresh investigation started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→ No link to the InfraOps ticket. No shared context.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6"/>
                </a:solidFill>
              </a:rPr>
              <a:t>T+4:00</a:t>
            </a:r>
            <a:r>
              <a:t>  InfraOps closes their ticket: "No service impact"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(they saw only the diff — not the security implication)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5">
                    <a:satOff val="-32670"/>
                    <a:lumOff val="-13254"/>
                  </a:schemeClr>
                </a:solidFill>
              </a:rPr>
              <a:t>T+9:15</a:t>
            </a:r>
            <a:r>
              <a:t>  NetOps morning routing review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VPC flow anomaly on instances behind sg-0abc123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Third ticket opened.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EXPOSURE: 19 hours · 2 EC2 instances · Port 22 world-open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TEAMS INVOLVED: 3 · TICKETS CREATED: 3 · CORRELATED: 0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The InfraOps engineer wasn't wrong.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The SecOps engineer wasn't wrong.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The system was designed to produce this outcome.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lide Number Placeholder 3"/>
          <p:cNvSpPr txBox="1"/>
          <p:nvPr>
            <p:ph type="sldNum" sz="quarter" idx="2"/>
          </p:nvPr>
        </p:nvSpPr>
        <p:spPr>
          <a:xfrm>
            <a:off x="11676622" y="387914"/>
            <a:ext cx="15783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337" name="Text 0"/>
          <p:cNvSpPr txBox="1"/>
          <p:nvPr/>
        </p:nvSpPr>
        <p:spPr>
          <a:xfrm>
            <a:off x="890269" y="9143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╔═════════════╗</a:t>
            </a:r>
          </a:p>
        </p:txBody>
      </p:sp>
      <p:sp>
        <p:nvSpPr>
          <p:cNvPr id="338" name="Text 1"/>
          <p:cNvSpPr txBox="1"/>
          <p:nvPr/>
        </p:nvSpPr>
        <p:spPr>
          <a:xfrm>
            <a:off x="890269" y="29591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GRAPH + CAUSAL AI</a:t>
            </a:r>
          </a:p>
        </p:txBody>
      </p:sp>
      <p:sp>
        <p:nvSpPr>
          <p:cNvPr id="339" name="Text 2"/>
          <p:cNvSpPr txBox="1"/>
          <p:nvPr/>
        </p:nvSpPr>
        <p:spPr>
          <a:xfrm>
            <a:off x="890269" y="64008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╚═════════════╝</a:t>
            </a:r>
          </a:p>
        </p:txBody>
      </p:sp>
      <p:sp>
        <p:nvSpPr>
          <p:cNvPr id="340" name="Text 3"/>
          <p:cNvSpPr txBox="1"/>
          <p:nvPr/>
        </p:nvSpPr>
        <p:spPr>
          <a:xfrm>
            <a:off x="707390" y="6497320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3/7]</a:t>
            </a:r>
          </a:p>
        </p:txBody>
      </p:sp>
      <p:sp>
        <p:nvSpPr>
          <p:cNvPr id="341" name="Text 4"/>
          <p:cNvSpPr txBox="1"/>
          <p:nvPr/>
        </p:nvSpPr>
        <p:spPr>
          <a:xfrm>
            <a:off x="890269" y="972819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./analyze_blast_radius.py</a:t>
            </a:r>
          </a:p>
        </p:txBody>
      </p:sp>
      <p:sp>
        <p:nvSpPr>
          <p:cNvPr id="342" name="Shape 7"/>
          <p:cNvSpPr/>
          <p:nvPr/>
        </p:nvSpPr>
        <p:spPr>
          <a:xfrm>
            <a:off x="594359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Shape 12"/>
          <p:cNvSpPr/>
          <p:nvPr/>
        </p:nvSpPr>
        <p:spPr>
          <a:xfrm>
            <a:off x="6922746" y="1432559"/>
            <a:ext cx="3508735" cy="3141981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4" name="Shape 13"/>
          <p:cNvSpPr/>
          <p:nvPr/>
        </p:nvSpPr>
        <p:spPr>
          <a:xfrm>
            <a:off x="6914057" y="1426209"/>
            <a:ext cx="3526112" cy="139985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5" name="Shape 14"/>
          <p:cNvSpPr/>
          <p:nvPr/>
        </p:nvSpPr>
        <p:spPr>
          <a:xfrm>
            <a:off x="6970930" y="1472871"/>
            <a:ext cx="56874" cy="4666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6" name="Shape 15"/>
          <p:cNvSpPr/>
          <p:nvPr/>
        </p:nvSpPr>
        <p:spPr>
          <a:xfrm>
            <a:off x="7084675" y="1472871"/>
            <a:ext cx="56874" cy="4666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Shape 16"/>
          <p:cNvSpPr/>
          <p:nvPr/>
        </p:nvSpPr>
        <p:spPr>
          <a:xfrm>
            <a:off x="7198421" y="1472871"/>
            <a:ext cx="56873" cy="4666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Text 17"/>
          <p:cNvSpPr txBox="1"/>
          <p:nvPr/>
        </p:nvSpPr>
        <p:spPr>
          <a:xfrm>
            <a:off x="6999366" y="1407451"/>
            <a:ext cx="3412367" cy="222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[CAUSAL AI]</a:t>
            </a:r>
          </a:p>
        </p:txBody>
      </p:sp>
      <p:sp>
        <p:nvSpPr>
          <p:cNvPr id="349" name="Text 18"/>
          <p:cNvSpPr txBox="1"/>
          <p:nvPr/>
        </p:nvSpPr>
        <p:spPr>
          <a:xfrm>
            <a:off x="6999366" y="1592992"/>
            <a:ext cx="3412367" cy="3104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chemeClr val="accent4"/>
                </a:solidFill>
              </a:rPr>
              <a:t>Correlation ≠ Causation</a:t>
            </a:r>
            <a:br/>
            <a:br/>
            <a:r>
              <a:t>GRAPH tells you: WHAT is affected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CAUSAL AI tells you: WHY it happened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Correlation:  CPU spike coincided with deployment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Causation:    Did deployment cause spike, or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did spike trigger auto-remediation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that looked like deployment?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PC Algorithm on event time-series: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[deploy] → [sg_change] → [cpu_spike]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(not: [cpu_spike] → [sg_change])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Practical output: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"Root cause: sg_change (T+0:04)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caused by: deploy event (T-0:02)</a:t>
            </a:r>
          </a:p>
          <a:p>
            <a:pPr>
              <a:defRPr sz="9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NOT by: the cpu alert (T+0:19)"</a:t>
            </a:r>
          </a:p>
        </p:txBody>
      </p:sp>
      <p:sp>
        <p:nvSpPr>
          <p:cNvPr id="350" name="Shape 19"/>
          <p:cNvSpPr/>
          <p:nvPr/>
        </p:nvSpPr>
        <p:spPr>
          <a:xfrm>
            <a:off x="935990" y="4718684"/>
            <a:ext cx="9508925" cy="1645921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1" name="Text 20"/>
          <p:cNvSpPr txBox="1"/>
          <p:nvPr/>
        </p:nvSpPr>
        <p:spPr>
          <a:xfrm>
            <a:off x="1118869" y="4765039"/>
            <a:ext cx="7680961" cy="171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[IMPLEMENTATION]</a:t>
            </a:r>
          </a:p>
          <a:p>
            <a:pPr defTabSz="914400">
              <a:lnSpc>
                <a:spcPct val="130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Graph DB: NetworkX (dev) · Neo4j (production)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Causal: CausalLearn (PyWhy) · PC Algorithm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Risk Score: resource_criticality × (1.0 + blast_radius × 0.05)  —— Capped at 1.3× (30% increase max)</a:t>
            </a: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3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[EXAMPLE]</a:t>
            </a:r>
            <a:br/>
            <a:r>
              <a:t>Database with 0 connections: 1.0 × 1.0 = </a:t>
            </a:r>
            <a:r>
              <a:rPr b="1"/>
              <a:t>1.0</a:t>
            </a:r>
            <a:r>
              <a:t> (critical by nature)</a:t>
            </a:r>
            <a:br/>
            <a:r>
              <a:t>S3 bucket with 10 connections: 0.6 × 1.5 = </a:t>
            </a:r>
            <a:r>
              <a:rPr b="1"/>
              <a:t>0.9</a:t>
            </a:r>
            <a:r>
              <a:t> (becomes critical through usage)</a:t>
            </a:r>
          </a:p>
        </p:txBody>
      </p:sp>
      <p:sp>
        <p:nvSpPr>
          <p:cNvPr id="352" name="Shape 5"/>
          <p:cNvSpPr/>
          <p:nvPr/>
        </p:nvSpPr>
        <p:spPr>
          <a:xfrm>
            <a:off x="935990" y="1450339"/>
            <a:ext cx="5776258" cy="312293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3" name="Shape 6"/>
          <p:cNvSpPr/>
          <p:nvPr/>
        </p:nvSpPr>
        <p:spPr>
          <a:xfrm>
            <a:off x="935990" y="1450339"/>
            <a:ext cx="5776258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4" name="Shape 9"/>
          <p:cNvSpPr/>
          <p:nvPr/>
        </p:nvSpPr>
        <p:spPr>
          <a:xfrm>
            <a:off x="1198547" y="1496059"/>
            <a:ext cx="52512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Text 10"/>
          <p:cNvSpPr txBox="1"/>
          <p:nvPr/>
        </p:nvSpPr>
        <p:spPr>
          <a:xfrm>
            <a:off x="988501" y="1409700"/>
            <a:ext cx="5671235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[PROPERTY GRAPH MODEL]</a:t>
            </a:r>
          </a:p>
        </p:txBody>
      </p:sp>
      <p:sp>
        <p:nvSpPr>
          <p:cNvPr id="356" name="Text 11"/>
          <p:cNvSpPr txBox="1"/>
          <p:nvPr/>
        </p:nvSpPr>
        <p:spPr>
          <a:xfrm>
            <a:off x="1232607" y="1828800"/>
            <a:ext cx="5356167" cy="2470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[VPC]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├── [Subnet: private-1]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│       └── [SG: sg-0abc123]  ◄━━ DRIFT NODE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│                 ├──[SECURES]──► [EC2: app-prod-1]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│                 │                    ├──[CONNECTS_TO]──► [RDS: db-prod]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│                 │                    └──[MOUNTS]────────► [EFS: fs-01]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│                 └──[SECURES]──► [EC2: app-prod-2]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│                                      └──[CONNECTS_TO]──► [RDS: db-prod]</a:t>
            </a:r>
          </a:p>
          <a:p>
            <a:pPr defTabSz="914400">
              <a:lnSpc>
                <a:spcPct val="115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OLD MODEL:  "sg-0abc123 CIDR changed"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→ 1 resource, 1 alert</a:t>
            </a:r>
          </a:p>
          <a:p>
            <a:pPr defTabSz="914400">
              <a:lnSpc>
                <a:spcPct val="115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GRAPH MODEL: "sg-0abc123 CIDR changed"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→ Direct risk:    2 EC2 instances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→ Transitive:     RDS, EFS (via EC2)</a:t>
            </a:r>
          </a:p>
          <a:p>
            <a:pPr defTabSz="914400">
              <a:lnSpc>
                <a:spcPct val="11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→ Blast radius:   4 downstream resources</a:t>
            </a:r>
          </a:p>
        </p:txBody>
      </p:sp>
      <p:sp>
        <p:nvSpPr>
          <p:cNvPr id="357" name="Shape 9"/>
          <p:cNvSpPr/>
          <p:nvPr/>
        </p:nvSpPr>
        <p:spPr>
          <a:xfrm>
            <a:off x="1344412" y="1623059"/>
            <a:ext cx="52512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Shape 9"/>
          <p:cNvSpPr/>
          <p:nvPr/>
        </p:nvSpPr>
        <p:spPr>
          <a:xfrm>
            <a:off x="981665" y="1496059"/>
            <a:ext cx="52513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9" name="Shape 9"/>
          <p:cNvSpPr/>
          <p:nvPr/>
        </p:nvSpPr>
        <p:spPr>
          <a:xfrm>
            <a:off x="1090106" y="1496060"/>
            <a:ext cx="52512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 txBox="1"/>
          <p:nvPr/>
        </p:nvSpPr>
        <p:spPr>
          <a:xfrm>
            <a:off x="858519" y="10413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╔════════════════════╗</a:t>
            </a:r>
          </a:p>
        </p:txBody>
      </p:sp>
      <p:sp>
        <p:nvSpPr>
          <p:cNvPr id="362" name="Text 1"/>
          <p:cNvSpPr txBox="1"/>
          <p:nvPr/>
        </p:nvSpPr>
        <p:spPr>
          <a:xfrm>
            <a:off x="858519" y="30861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9D00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PC ALGORITHM &amp; CAUSALLEARN</a:t>
            </a:r>
          </a:p>
        </p:txBody>
      </p:sp>
      <p:sp>
        <p:nvSpPr>
          <p:cNvPr id="363" name="Text 2"/>
          <p:cNvSpPr txBox="1"/>
          <p:nvPr/>
        </p:nvSpPr>
        <p:spPr>
          <a:xfrm>
            <a:off x="858519" y="65278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╚════════════════════╝</a:t>
            </a:r>
          </a:p>
        </p:txBody>
      </p:sp>
      <p:sp>
        <p:nvSpPr>
          <p:cNvPr id="364" name="Shape 5"/>
          <p:cNvSpPr/>
          <p:nvPr/>
        </p:nvSpPr>
        <p:spPr>
          <a:xfrm>
            <a:off x="924559" y="1026160"/>
            <a:ext cx="2560322" cy="3108961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5" name="Shape 6"/>
          <p:cNvSpPr/>
          <p:nvPr/>
        </p:nvSpPr>
        <p:spPr>
          <a:xfrm>
            <a:off x="924559" y="1026160"/>
            <a:ext cx="2560322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6" name="Shape 7"/>
          <p:cNvSpPr/>
          <p:nvPr/>
        </p:nvSpPr>
        <p:spPr>
          <a:xfrm>
            <a:off x="970279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7" name="Shape 8"/>
          <p:cNvSpPr/>
          <p:nvPr/>
        </p:nvSpPr>
        <p:spPr>
          <a:xfrm>
            <a:off x="1061719" y="1071879"/>
            <a:ext cx="45722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8" name="Shape 9"/>
          <p:cNvSpPr/>
          <p:nvPr/>
        </p:nvSpPr>
        <p:spPr>
          <a:xfrm>
            <a:off x="1153160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9" name="Text 10"/>
          <p:cNvSpPr txBox="1"/>
          <p:nvPr/>
        </p:nvSpPr>
        <p:spPr>
          <a:xfrm>
            <a:off x="970279" y="993139"/>
            <a:ext cx="246888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[PC ALGORITHM]</a:t>
            </a:r>
          </a:p>
        </p:txBody>
      </p:sp>
      <p:sp>
        <p:nvSpPr>
          <p:cNvPr id="370" name="Text 11"/>
          <p:cNvSpPr txBox="1"/>
          <p:nvPr/>
        </p:nvSpPr>
        <p:spPr>
          <a:xfrm>
            <a:off x="1107439" y="1136135"/>
            <a:ext cx="2194562" cy="298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Learns causal structure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observations (Peter Clark)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[Observations]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↓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┌─────────────┐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1. SKELETON │ Find all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Chi² test  │ relationships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└─────────────┘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↓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A ─── B ─── C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│           │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└─── D ─────┘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↓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┌─────────────┐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│2. V-STRUCT  │ Detect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A → B ← C  │ colliders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└─────────────┘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↓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A → B ← C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↓       ↓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D ───── E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↓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┌─────────────┐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3. ORIENT   │ Direct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Meek rules  │ all edges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└─────────────┘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↓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[Causal DAG]</a:t>
            </a:r>
          </a:p>
        </p:txBody>
      </p:sp>
      <p:sp>
        <p:nvSpPr>
          <p:cNvPr id="371" name="Shape 12"/>
          <p:cNvSpPr/>
          <p:nvPr/>
        </p:nvSpPr>
        <p:spPr>
          <a:xfrm>
            <a:off x="3667760" y="1026160"/>
            <a:ext cx="2743201" cy="3108961"/>
          </a:xfrm>
          <a:prstGeom prst="rect">
            <a:avLst/>
          </a:prstGeom>
          <a:solidFill>
            <a:srgbClr val="0A0A0A"/>
          </a:solidFill>
          <a:ln w="25400">
            <a:solidFill>
              <a:srgbClr val="9D00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2" name="Shape 13"/>
          <p:cNvSpPr/>
          <p:nvPr/>
        </p:nvSpPr>
        <p:spPr>
          <a:xfrm>
            <a:off x="3667760" y="1026160"/>
            <a:ext cx="2743201" cy="137161"/>
          </a:xfrm>
          <a:prstGeom prst="rect">
            <a:avLst/>
          </a:prstGeom>
          <a:solidFill>
            <a:srgbClr val="9D00FF"/>
          </a:solidFill>
          <a:ln w="12700">
            <a:solidFill>
              <a:srgbClr val="9D00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Shape 14"/>
          <p:cNvSpPr/>
          <p:nvPr/>
        </p:nvSpPr>
        <p:spPr>
          <a:xfrm>
            <a:off x="3713479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4" name="Shape 15"/>
          <p:cNvSpPr/>
          <p:nvPr/>
        </p:nvSpPr>
        <p:spPr>
          <a:xfrm>
            <a:off x="3804920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5" name="Shape 16"/>
          <p:cNvSpPr/>
          <p:nvPr/>
        </p:nvSpPr>
        <p:spPr>
          <a:xfrm>
            <a:off x="3896360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Text 17"/>
          <p:cNvSpPr txBox="1"/>
          <p:nvPr/>
        </p:nvSpPr>
        <p:spPr>
          <a:xfrm>
            <a:off x="3713480" y="993139"/>
            <a:ext cx="26517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[CAUSALLEARN]</a:t>
            </a:r>
          </a:p>
        </p:txBody>
      </p:sp>
      <p:sp>
        <p:nvSpPr>
          <p:cNvPr id="377" name="Text 18"/>
          <p:cNvSpPr txBox="1"/>
          <p:nvPr/>
        </p:nvSpPr>
        <p:spPr>
          <a:xfrm>
            <a:off x="3850640" y="1366746"/>
            <a:ext cx="2377441" cy="2519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PyWhy library for causal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discovery from data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causallearn.search \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.ConstraintBased.PC import pc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Build observation matrix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data = build_matrix(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drift_events,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window=3600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Run PC algorithm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cg = pc(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data,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alpha=0.05,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indep_test=fisherz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Extract causal edges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i, j in cg.G.edges():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src = RESOURCES[i]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tgt = RESOURCES[j]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dag.add_edge(src, tgt)</a:t>
            </a:r>
          </a:p>
        </p:txBody>
      </p:sp>
      <p:sp>
        <p:nvSpPr>
          <p:cNvPr id="378" name="Shape 19"/>
          <p:cNvSpPr/>
          <p:nvPr/>
        </p:nvSpPr>
        <p:spPr>
          <a:xfrm>
            <a:off x="6593840" y="1026160"/>
            <a:ext cx="2377441" cy="310896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Shape 20"/>
          <p:cNvSpPr/>
          <p:nvPr/>
        </p:nvSpPr>
        <p:spPr>
          <a:xfrm>
            <a:off x="6593840" y="1026160"/>
            <a:ext cx="2377441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Shape 21"/>
          <p:cNvSpPr/>
          <p:nvPr/>
        </p:nvSpPr>
        <p:spPr>
          <a:xfrm>
            <a:off x="6639560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1" name="Shape 22"/>
          <p:cNvSpPr/>
          <p:nvPr/>
        </p:nvSpPr>
        <p:spPr>
          <a:xfrm>
            <a:off x="6730999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2" name="Shape 23"/>
          <p:cNvSpPr/>
          <p:nvPr/>
        </p:nvSpPr>
        <p:spPr>
          <a:xfrm>
            <a:off x="6822440" y="107187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Text 24"/>
          <p:cNvSpPr txBox="1"/>
          <p:nvPr/>
        </p:nvSpPr>
        <p:spPr>
          <a:xfrm>
            <a:off x="6639560" y="993139"/>
            <a:ext cx="22860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[NETWORKX DAG]</a:t>
            </a:r>
          </a:p>
        </p:txBody>
      </p:sp>
      <p:sp>
        <p:nvSpPr>
          <p:cNvPr id="384" name="Text 25"/>
          <p:cNvSpPr txBox="1"/>
          <p:nvPr/>
        </p:nvSpPr>
        <p:spPr>
          <a:xfrm>
            <a:off x="6776719" y="1211291"/>
            <a:ext cx="2011682" cy="2830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Graph operations: blast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radius + root cause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networkx as nx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dag = nx.DiGraph()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Add directed edges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dag.add_edge(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"sg-0abc123",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"i-001",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weight=0.9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Calculate blast radius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downstream = list(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nx.descendants(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dag,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"sg-0abc123"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)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914400">
              <a:lnSpc>
                <a:spcPct val="112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Find root causes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root = [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 for n in dag.nodes()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if dag.in_degree(n)==0</a:t>
            </a:r>
          </a:p>
          <a:p>
            <a:pPr defTabSz="914400">
              <a:lnSpc>
                <a:spcPct val="112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]</a:t>
            </a:r>
          </a:p>
        </p:txBody>
      </p:sp>
      <p:sp>
        <p:nvSpPr>
          <p:cNvPr id="385" name="Shape 26"/>
          <p:cNvSpPr/>
          <p:nvPr/>
        </p:nvSpPr>
        <p:spPr>
          <a:xfrm>
            <a:off x="924559" y="4318000"/>
            <a:ext cx="4023361" cy="1737361"/>
          </a:xfrm>
          <a:prstGeom prst="rect">
            <a:avLst/>
          </a:prstGeom>
          <a:solidFill>
            <a:srgbClr val="0A0A0A"/>
          </a:solidFill>
          <a:ln w="25400">
            <a:solidFill>
              <a:srgbClr val="FFD7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Shape 27"/>
          <p:cNvSpPr/>
          <p:nvPr/>
        </p:nvSpPr>
        <p:spPr>
          <a:xfrm>
            <a:off x="924559" y="4318000"/>
            <a:ext cx="4023361" cy="137161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7" name="Shape 28"/>
          <p:cNvSpPr/>
          <p:nvPr/>
        </p:nvSpPr>
        <p:spPr>
          <a:xfrm>
            <a:off x="970279" y="43637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Shape 29"/>
          <p:cNvSpPr/>
          <p:nvPr/>
        </p:nvSpPr>
        <p:spPr>
          <a:xfrm>
            <a:off x="1061719" y="4363719"/>
            <a:ext cx="45722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Shape 30"/>
          <p:cNvSpPr/>
          <p:nvPr/>
        </p:nvSpPr>
        <p:spPr>
          <a:xfrm>
            <a:off x="1153160" y="43637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Text 31"/>
          <p:cNvSpPr txBox="1"/>
          <p:nvPr/>
        </p:nvSpPr>
        <p:spPr>
          <a:xfrm>
            <a:off x="970279" y="4291329"/>
            <a:ext cx="3931920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8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[OBSERVATION MATRIX: Input to PC]</a:t>
            </a:r>
          </a:p>
        </p:txBody>
      </p:sp>
      <p:sp>
        <p:nvSpPr>
          <p:cNvPr id="391" name="Text 32"/>
          <p:cNvSpPr txBox="1"/>
          <p:nvPr/>
        </p:nvSpPr>
        <p:spPr>
          <a:xfrm>
            <a:off x="1107439" y="4629225"/>
            <a:ext cx="3657601" cy="1261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Time-series drift events converted to binary matrix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Each row = 1-hour window | Each col = resource type</a:t>
            </a:r>
          </a:p>
          <a:p>
            <a:pPr defTabSz="914400">
              <a:lnSpc>
                <a:spcPct val="108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Time     SG   EC2  RDS  EFS  Lambda  VPC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───────────────────────────────────────────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14:00     1    0    0    0     0      0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15:00     0    1    1    0     0      0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16:00     0    0    1    1     0      0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17:00     0    0    0    0     1      0</a:t>
            </a:r>
          </a:p>
          <a:p>
            <a:pPr defTabSz="914400">
              <a:lnSpc>
                <a:spcPct val="108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data = np.array([[1,0,0,0,0,0], [0,1,1,0,0,0], ...])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cg = pc(data, alpha=0.05, indep_test=fisherz)</a:t>
            </a:r>
          </a:p>
        </p:txBody>
      </p:sp>
      <p:sp>
        <p:nvSpPr>
          <p:cNvPr id="392" name="Shape 33"/>
          <p:cNvSpPr/>
          <p:nvPr/>
        </p:nvSpPr>
        <p:spPr>
          <a:xfrm>
            <a:off x="5130799" y="4318000"/>
            <a:ext cx="3840481" cy="173736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Shape 34"/>
          <p:cNvSpPr/>
          <p:nvPr/>
        </p:nvSpPr>
        <p:spPr>
          <a:xfrm>
            <a:off x="5130799" y="4318000"/>
            <a:ext cx="384048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Shape 35"/>
          <p:cNvSpPr/>
          <p:nvPr/>
        </p:nvSpPr>
        <p:spPr>
          <a:xfrm>
            <a:off x="5176520" y="43637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5" name="Shape 36"/>
          <p:cNvSpPr/>
          <p:nvPr/>
        </p:nvSpPr>
        <p:spPr>
          <a:xfrm>
            <a:off x="5267960" y="43637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Shape 37"/>
          <p:cNvSpPr/>
          <p:nvPr/>
        </p:nvSpPr>
        <p:spPr>
          <a:xfrm>
            <a:off x="5359399" y="43637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Text 38"/>
          <p:cNvSpPr txBox="1"/>
          <p:nvPr/>
        </p:nvSpPr>
        <p:spPr>
          <a:xfrm>
            <a:off x="5176520" y="4291329"/>
            <a:ext cx="3749040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8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[CAUSAL DAG OUTPUT]</a:t>
            </a:r>
          </a:p>
        </p:txBody>
      </p:sp>
      <p:sp>
        <p:nvSpPr>
          <p:cNvPr id="398" name="Text 39"/>
          <p:cNvSpPr txBox="1"/>
          <p:nvPr/>
        </p:nvSpPr>
        <p:spPr>
          <a:xfrm>
            <a:off x="5313680" y="4622367"/>
            <a:ext cx="3474720" cy="1274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PC discovers cause → effect relationships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timing + statistical tests</a:t>
            </a:r>
          </a:p>
          <a:p>
            <a:pPr defTabSz="914400">
              <a:lnSpc>
                <a:spcPct val="108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14:00  [SG drift]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↓ CAUSES (0.9)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15:00  [EC2 drift] </a:t>
            </a:r>
            <a:r>
              <a:rPr sz="700"/>
              <a:t>→</a:t>
            </a:r>
            <a:r>
              <a:t> [RDS drift]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↓ CAUSES (0.85)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16:00  [EFS mount timeout]</a:t>
            </a:r>
          </a:p>
          <a:p>
            <a:pPr defTabSz="914400">
              <a:lnSpc>
                <a:spcPct val="108000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ROOT CAUSE: sg-0abc123 (in_degree=0)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BLAST RADIUS: 3 downstream resources</a:t>
            </a:r>
          </a:p>
          <a:p>
            <a:pPr defTabSz="914400">
              <a:lnSpc>
                <a:spcPct val="108000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CORRELATION: 4 alerts → 1 root cause</a:t>
            </a:r>
          </a:p>
        </p:txBody>
      </p:sp>
      <p:sp>
        <p:nvSpPr>
          <p:cNvPr id="399" name="Shape 40"/>
          <p:cNvSpPr/>
          <p:nvPr/>
        </p:nvSpPr>
        <p:spPr>
          <a:xfrm>
            <a:off x="924560" y="6192519"/>
            <a:ext cx="8046719" cy="274321"/>
          </a:xfrm>
          <a:prstGeom prst="rect">
            <a:avLst/>
          </a:prstGeom>
          <a:solidFill>
            <a:srgbClr val="0A0A0A"/>
          </a:solidFill>
          <a:ln w="19050">
            <a:solidFill>
              <a:srgbClr val="9D00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Text 41"/>
          <p:cNvSpPr txBox="1"/>
          <p:nvPr/>
        </p:nvSpPr>
        <p:spPr>
          <a:xfrm>
            <a:off x="1107439" y="6235954"/>
            <a:ext cx="768096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800">
                <a:solidFill>
                  <a:srgbClr val="9D00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Libraries: causal-learn (PC) · NetworkX (DAG) · NumPy (matrix)</a:t>
            </a:r>
          </a:p>
        </p:txBody>
      </p:sp>
      <p:sp>
        <p:nvSpPr>
          <p:cNvPr id="401" name="Slide Number Placeholder 3"/>
          <p:cNvSpPr txBox="1"/>
          <p:nvPr>
            <p:ph type="sldNum" sz="quarter" idx="2"/>
          </p:nvPr>
        </p:nvSpPr>
        <p:spPr>
          <a:xfrm>
            <a:off x="11613054" y="387914"/>
            <a:ext cx="284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lide Number Placeholder 3"/>
          <p:cNvSpPr txBox="1"/>
          <p:nvPr>
            <p:ph type="sldNum" sz="quarter" idx="2"/>
          </p:nvPr>
        </p:nvSpPr>
        <p:spPr>
          <a:xfrm>
            <a:off x="11621537" y="387914"/>
            <a:ext cx="268007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404" name="Text 0"/>
          <p:cNvSpPr txBox="1"/>
          <p:nvPr/>
        </p:nvSpPr>
        <p:spPr>
          <a:xfrm>
            <a:off x="895363" y="3809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╔════════════════════╗</a:t>
            </a:r>
          </a:p>
        </p:txBody>
      </p:sp>
      <p:sp>
        <p:nvSpPr>
          <p:cNvPr id="405" name="Text 1"/>
          <p:cNvSpPr txBox="1"/>
          <p:nvPr/>
        </p:nvSpPr>
        <p:spPr>
          <a:xfrm>
            <a:off x="895363" y="24257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UNIFIED PIPELINE: 5 LAYERS</a:t>
            </a:r>
          </a:p>
        </p:txBody>
      </p:sp>
      <p:sp>
        <p:nvSpPr>
          <p:cNvPr id="406" name="Text 2"/>
          <p:cNvSpPr txBox="1"/>
          <p:nvPr/>
        </p:nvSpPr>
        <p:spPr>
          <a:xfrm>
            <a:off x="895363" y="58674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╚════════════════════╝</a:t>
            </a:r>
          </a:p>
        </p:txBody>
      </p:sp>
      <p:sp>
        <p:nvSpPr>
          <p:cNvPr id="407" name="Text 3"/>
          <p:cNvSpPr txBox="1"/>
          <p:nvPr/>
        </p:nvSpPr>
        <p:spPr>
          <a:xfrm>
            <a:off x="712483" y="64439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3/7]</a:t>
            </a:r>
          </a:p>
        </p:txBody>
      </p:sp>
      <p:sp>
        <p:nvSpPr>
          <p:cNvPr id="408" name="Text 4"/>
          <p:cNvSpPr txBox="1"/>
          <p:nvPr/>
        </p:nvSpPr>
        <p:spPr>
          <a:xfrm>
            <a:off x="895363" y="797560"/>
            <a:ext cx="81381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1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* THE ANCHOR SLIDE *</a:t>
            </a:r>
          </a:p>
        </p:txBody>
      </p:sp>
      <p:sp>
        <p:nvSpPr>
          <p:cNvPr id="409" name="Shape 5"/>
          <p:cNvSpPr/>
          <p:nvPr/>
        </p:nvSpPr>
        <p:spPr>
          <a:xfrm>
            <a:off x="941083" y="1122680"/>
            <a:ext cx="8046720" cy="484632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Shape 6"/>
          <p:cNvSpPr/>
          <p:nvPr/>
        </p:nvSpPr>
        <p:spPr>
          <a:xfrm>
            <a:off x="941083" y="1122680"/>
            <a:ext cx="8046720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Shape 7"/>
          <p:cNvSpPr/>
          <p:nvPr/>
        </p:nvSpPr>
        <p:spPr>
          <a:xfrm>
            <a:off x="986803" y="116840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Shape 8"/>
          <p:cNvSpPr/>
          <p:nvPr/>
        </p:nvSpPr>
        <p:spPr>
          <a:xfrm>
            <a:off x="1078243" y="116840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3" name="Shape 9"/>
          <p:cNvSpPr/>
          <p:nvPr/>
        </p:nvSpPr>
        <p:spPr>
          <a:xfrm>
            <a:off x="1169683" y="116840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4" name="Text 10"/>
          <p:cNvSpPr txBox="1"/>
          <p:nvPr/>
        </p:nvSpPr>
        <p:spPr>
          <a:xfrm>
            <a:off x="1123963" y="1380753"/>
            <a:ext cx="7680961" cy="4359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chemeClr val="accent2"/>
                </a:solidFill>
              </a:rPr>
              <a:t>[LAYER 1]</a:t>
            </a:r>
            <a:r>
              <a:t>: </a:t>
            </a:r>
            <a:r>
              <a:rPr b="1"/>
              <a:t>DATA SOURCES</a:t>
            </a:r>
            <a:r>
              <a:t>  (existing tools stay in place)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[Terraform State]  [CloudTrail Events]  [OPA Engine]  [Net Baselines]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Poll every 15m      EventBridge stream   Continuous     Diff every 30m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chemeClr val="accent2"/>
                </a:solidFill>
              </a:rPr>
              <a:t>[LAYER 2]</a:t>
            </a:r>
            <a:r>
              <a:t>: </a:t>
            </a:r>
            <a:r>
              <a:rPr b="1"/>
              <a:t>NORMALIZE</a:t>
            </a:r>
            <a:r>
              <a:t> → DriftEvent Schema (the contract)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2"/>
                </a:solidFill>
              </a:rPr>
              <a:t> [LAYER 3]</a:t>
            </a:r>
            <a:r>
              <a:t>: </a:t>
            </a:r>
            <a:r>
              <a:rPr b="1"/>
              <a:t>CORRELATION ENGINE</a:t>
            </a:r>
            <a:r>
              <a:t>  (Neo4j / AWS Neptune)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[Graph Model]  ──►  [Blast Radius]  ──►  [Causal Inference]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[Deduplication: same resource + 15-min window = 1 event]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[Severity = MAX across correlated group]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[RESULT: 7 raw alerts → 1 correlated incident · -85% noise]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chemeClr val="accent2"/>
                </a:solidFill>
              </a:rPr>
              <a:t>[LAYER 4]</a:t>
            </a:r>
            <a:r>
              <a:t>: </a:t>
            </a:r>
            <a:r>
              <a:rPr b="1"/>
              <a:t>AI AGENT ORCHESTRATOR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[Detective: RCA + Context]  ──►  [Surgeon: Patch + PR]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chemeClr val="accent2"/>
                </a:solidFill>
              </a:rPr>
              <a:t>[LAYER 5]</a:t>
            </a:r>
            <a:r>
              <a:t>: </a:t>
            </a:r>
            <a:r>
              <a:rPr b="1"/>
              <a:t>GITOPS + OPA GATE + HUMAN APPROVAL</a:t>
            </a:r>
            <a:endParaRPr b="1"/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[OPA Policy] → [Team Routing] → [PR Review] → [terraform apply]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b="1" sz="8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CRITICAL CONSTRAINTS:</a:t>
            </a:r>
          </a:p>
          <a:p>
            <a:pPr defTabSz="914400">
              <a:lnSpc>
                <a:spcPct val="104999"/>
              </a:lnSpc>
              <a:defRPr sz="800">
                <a:solidFill>
                  <a:schemeClr val="accent1">
                    <a:lumOff val="13235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① No existing tools are replaced</a:t>
            </a:r>
          </a:p>
          <a:p>
            <a:pPr defTabSz="914400">
              <a:lnSpc>
                <a:spcPct val="104999"/>
              </a:lnSpc>
              <a:defRPr sz="800">
                <a:solidFill>
                  <a:schemeClr val="accent1">
                    <a:lumOff val="13235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② DriftEvent schema = the integration contract</a:t>
            </a:r>
          </a:p>
          <a:p>
            <a:pPr defTabSz="914400">
              <a:lnSpc>
                <a:spcPct val="104999"/>
              </a:lnSpc>
              <a:defRPr sz="800">
                <a:solidFill>
                  <a:schemeClr val="accent1">
                    <a:lumOff val="13235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③ Detective has zero write permissions. Ever.</a:t>
            </a:r>
          </a:p>
          <a:p>
            <a:pPr defTabSz="914400">
              <a:lnSpc>
                <a:spcPct val="104999"/>
              </a:lnSpc>
              <a:defRPr sz="800">
                <a:solidFill>
                  <a:schemeClr val="accent1">
                    <a:lumOff val="13235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④ Surgeon creates PRs only. No apply access. Ever.</a:t>
            </a:r>
          </a:p>
          <a:p>
            <a:pPr defTabSz="914400">
              <a:lnSpc>
                <a:spcPct val="104999"/>
              </a:lnSpc>
              <a:defRPr sz="800">
                <a:solidFill>
                  <a:schemeClr val="accent1">
                    <a:lumOff val="13235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⑤ AI never runs terraform apply. Full stop. Non-negotiable.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lide Number Placeholder 3"/>
          <p:cNvSpPr txBox="1"/>
          <p:nvPr>
            <p:ph type="sldNum" sz="quarter" idx="2"/>
          </p:nvPr>
        </p:nvSpPr>
        <p:spPr>
          <a:xfrm>
            <a:off x="11613054" y="387914"/>
            <a:ext cx="284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417" name="Text 0"/>
          <p:cNvSpPr txBox="1"/>
          <p:nvPr/>
        </p:nvSpPr>
        <p:spPr>
          <a:xfrm>
            <a:off x="897215" y="4382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╔═══════════════════╗</a:t>
            </a:r>
          </a:p>
        </p:txBody>
      </p:sp>
      <p:sp>
        <p:nvSpPr>
          <p:cNvPr id="418" name="Text 1"/>
          <p:cNvSpPr txBox="1"/>
          <p:nvPr/>
        </p:nvSpPr>
        <p:spPr>
          <a:xfrm>
            <a:off x="897215" y="248298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DriftEvent: THE CONTRACT</a:t>
            </a:r>
          </a:p>
        </p:txBody>
      </p:sp>
      <p:sp>
        <p:nvSpPr>
          <p:cNvPr id="419" name="Text 2"/>
          <p:cNvSpPr txBox="1"/>
          <p:nvPr/>
        </p:nvSpPr>
        <p:spPr>
          <a:xfrm>
            <a:off x="897215" y="59246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╚═══════════════════╝</a:t>
            </a:r>
          </a:p>
        </p:txBody>
      </p:sp>
      <p:sp>
        <p:nvSpPr>
          <p:cNvPr id="420" name="Text 3"/>
          <p:cNvSpPr txBox="1"/>
          <p:nvPr/>
        </p:nvSpPr>
        <p:spPr>
          <a:xfrm>
            <a:off x="714335" y="6449708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3/7]</a:t>
            </a:r>
          </a:p>
        </p:txBody>
      </p:sp>
      <p:sp>
        <p:nvSpPr>
          <p:cNvPr id="421" name="Text 4"/>
          <p:cNvSpPr txBox="1"/>
          <p:nvPr/>
        </p:nvSpPr>
        <p:spPr>
          <a:xfrm>
            <a:off x="897215" y="925208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code/core/schemas.py</a:t>
            </a:r>
          </a:p>
        </p:txBody>
      </p:sp>
      <p:sp>
        <p:nvSpPr>
          <p:cNvPr id="422" name="Shape 5"/>
          <p:cNvSpPr/>
          <p:nvPr/>
        </p:nvSpPr>
        <p:spPr>
          <a:xfrm>
            <a:off x="1034375" y="1402728"/>
            <a:ext cx="7863841" cy="4838701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Shape 6"/>
          <p:cNvSpPr/>
          <p:nvPr/>
        </p:nvSpPr>
        <p:spPr>
          <a:xfrm>
            <a:off x="1034375" y="1402728"/>
            <a:ext cx="7863841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Shape 7"/>
          <p:cNvSpPr/>
          <p:nvPr/>
        </p:nvSpPr>
        <p:spPr>
          <a:xfrm>
            <a:off x="68580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Shape 8"/>
          <p:cNvSpPr/>
          <p:nvPr/>
        </p:nvSpPr>
        <p:spPr>
          <a:xfrm>
            <a:off x="77724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Shape 9"/>
          <p:cNvSpPr/>
          <p:nvPr/>
        </p:nvSpPr>
        <p:spPr>
          <a:xfrm>
            <a:off x="1262975" y="1448448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Text 10"/>
          <p:cNvSpPr txBox="1"/>
          <p:nvPr/>
        </p:nvSpPr>
        <p:spPr>
          <a:xfrm>
            <a:off x="1217256" y="1714533"/>
            <a:ext cx="7498079" cy="42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8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@dataclass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2"/>
                </a:solidFill>
              </a:rPr>
              <a:t>class</a:t>
            </a:r>
            <a:r>
              <a:t> </a:t>
            </a:r>
            <a:r>
              <a:rPr>
                <a:solidFill>
                  <a:schemeClr val="accent3"/>
                </a:solidFill>
              </a:rPr>
              <a:t>DriftEvent</a:t>
            </a:r>
            <a:r>
              <a:rPr>
                <a:solidFill>
                  <a:srgbClr val="FFFFFF"/>
                </a:solidFill>
              </a:rPr>
              <a:t>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─── Core identity ───────────────────────────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event_id:      str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resource_id:   str  # "sg-0abc123"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resource_type: str  # "aws_security_group"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domain:        DriftDomain    # INFRASTRUCTURE | SECURITY | NETWORK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severity:      DriftSeverity  # CRITICAL | HIGH | MEDIUM | LOW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detected_at:   datetime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─── State delta ─────────────────────────────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desired_state: dict  # What Terraform says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actual_state:  dict  # What AWS actually has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diff:          dict  # The differences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─── Graph enrichment ────────────────────────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blast_radius: list[str]  # Affected downstream resources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risk_score:   float      # 0.0 to 1.0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─── Operational context ─────────────────────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actor:             Optional[str]  # Who made the change (CloudTrail)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policy_violations: list[str]      # OPA policy violations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tags:              dict           # Environment, owner, etc.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correlation_id:    Optional[str]  # Links related alerts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active_incident:   bool           # THE HOTFIX GUARD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DATA SOURCES: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desired_state  ← Terraform .tfstate (S3 / TFC backend)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actual_state   ← Live cloud API (boto3 / AWS SDK)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blast_radius   ← graph.get_blast_radius() output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actor          ← CloudTrail lookup (WHO did this?)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active_incident ← PagerDuty/OpsGenie webhook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 - Effect: blocks ALL autonomous remediation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 - Without this: you get the hotfix reversal story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lide Number Placeholder 3"/>
          <p:cNvSpPr txBox="1"/>
          <p:nvPr>
            <p:ph type="sldNum" sz="quarter" idx="2"/>
          </p:nvPr>
        </p:nvSpPr>
        <p:spPr>
          <a:xfrm>
            <a:off x="11613054" y="387914"/>
            <a:ext cx="284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  <p:sp>
        <p:nvSpPr>
          <p:cNvPr id="430" name="Text 0"/>
          <p:cNvSpPr txBox="1"/>
          <p:nvPr/>
        </p:nvSpPr>
        <p:spPr>
          <a:xfrm>
            <a:off x="901087" y="10413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╔════════════════╗</a:t>
            </a:r>
          </a:p>
        </p:txBody>
      </p:sp>
      <p:sp>
        <p:nvSpPr>
          <p:cNvPr id="431" name="Text 1"/>
          <p:cNvSpPr txBox="1"/>
          <p:nvPr/>
        </p:nvSpPr>
        <p:spPr>
          <a:xfrm>
            <a:off x="901087" y="30861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 ALERTS → 1 INCIDENT</a:t>
            </a:r>
          </a:p>
        </p:txBody>
      </p:sp>
      <p:sp>
        <p:nvSpPr>
          <p:cNvPr id="432" name="Text 2"/>
          <p:cNvSpPr txBox="1"/>
          <p:nvPr/>
        </p:nvSpPr>
        <p:spPr>
          <a:xfrm>
            <a:off x="901087" y="65278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╚════════════════╝</a:t>
            </a:r>
          </a:p>
        </p:txBody>
      </p:sp>
      <p:sp>
        <p:nvSpPr>
          <p:cNvPr id="433" name="Text 3"/>
          <p:cNvSpPr txBox="1"/>
          <p:nvPr/>
        </p:nvSpPr>
        <p:spPr>
          <a:xfrm>
            <a:off x="718207" y="6510020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3/7]</a:t>
            </a:r>
          </a:p>
        </p:txBody>
      </p:sp>
      <p:sp>
        <p:nvSpPr>
          <p:cNvPr id="434" name="Text 4"/>
          <p:cNvSpPr txBox="1"/>
          <p:nvPr/>
        </p:nvSpPr>
        <p:spPr>
          <a:xfrm>
            <a:off x="901087" y="985519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./correlate.py --verbose</a:t>
            </a:r>
          </a:p>
        </p:txBody>
      </p:sp>
      <p:sp>
        <p:nvSpPr>
          <p:cNvPr id="435" name="Shape 5"/>
          <p:cNvSpPr/>
          <p:nvPr/>
        </p:nvSpPr>
        <p:spPr>
          <a:xfrm>
            <a:off x="946807" y="1463039"/>
            <a:ext cx="3840481" cy="201168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Shape 6"/>
          <p:cNvSpPr/>
          <p:nvPr/>
        </p:nvSpPr>
        <p:spPr>
          <a:xfrm>
            <a:off x="946807" y="1463039"/>
            <a:ext cx="384048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Shape 7"/>
          <p:cNvSpPr/>
          <p:nvPr/>
        </p:nvSpPr>
        <p:spPr>
          <a:xfrm>
            <a:off x="992527" y="15087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Shape 8"/>
          <p:cNvSpPr/>
          <p:nvPr/>
        </p:nvSpPr>
        <p:spPr>
          <a:xfrm>
            <a:off x="1083967" y="15087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9" name="Shape 9"/>
          <p:cNvSpPr/>
          <p:nvPr/>
        </p:nvSpPr>
        <p:spPr>
          <a:xfrm>
            <a:off x="1175407" y="15087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Text 10"/>
          <p:cNvSpPr txBox="1"/>
          <p:nvPr/>
        </p:nvSpPr>
        <p:spPr>
          <a:xfrm>
            <a:off x="992527" y="1436369"/>
            <a:ext cx="374904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8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[BEFORE: 7 alerts, 3 tools, 3 teams]</a:t>
            </a:r>
          </a:p>
        </p:txBody>
      </p:sp>
      <p:sp>
        <p:nvSpPr>
          <p:cNvPr id="441" name="Text 11"/>
          <p:cNvSpPr txBox="1"/>
          <p:nvPr/>
        </p:nvSpPr>
        <p:spPr>
          <a:xfrm>
            <a:off x="1129687" y="1973282"/>
            <a:ext cx="3474720" cy="1223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14:23  [TERRAFORM]  sg-0abc123 — cidr_blocks changed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14:23  [TERRAFORM]  sg-0abc123 — description changed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14:24  [OPA]        no_public_ssh_access VIOLATED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14:24  [OPA]        sg_description_required VIOLATED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17:44  [CSPM]       Port 22 open to internet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17:44  [CSPM]       SSH unrestricted access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09:15  [NETOPS]     VPC flow anomaly (sg-0abc123)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7 alerts · 3 teams · 3 queues · 19-hour exposure</a:t>
            </a:r>
          </a:p>
        </p:txBody>
      </p:sp>
      <p:sp>
        <p:nvSpPr>
          <p:cNvPr id="442" name="Shape 12"/>
          <p:cNvSpPr/>
          <p:nvPr/>
        </p:nvSpPr>
        <p:spPr>
          <a:xfrm>
            <a:off x="4970167" y="1463039"/>
            <a:ext cx="4023360" cy="201168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Shape 13"/>
          <p:cNvSpPr/>
          <p:nvPr/>
        </p:nvSpPr>
        <p:spPr>
          <a:xfrm>
            <a:off x="4970167" y="1463039"/>
            <a:ext cx="4023360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4" name="Shape 14"/>
          <p:cNvSpPr/>
          <p:nvPr/>
        </p:nvSpPr>
        <p:spPr>
          <a:xfrm>
            <a:off x="5015887" y="15087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Shape 15"/>
          <p:cNvSpPr/>
          <p:nvPr/>
        </p:nvSpPr>
        <p:spPr>
          <a:xfrm>
            <a:off x="5107327" y="15087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Shape 16"/>
          <p:cNvSpPr/>
          <p:nvPr/>
        </p:nvSpPr>
        <p:spPr>
          <a:xfrm>
            <a:off x="5198767" y="15087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Text 17"/>
          <p:cNvSpPr txBox="1"/>
          <p:nvPr/>
        </p:nvSpPr>
        <p:spPr>
          <a:xfrm>
            <a:off x="5015887" y="1436369"/>
            <a:ext cx="3931920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8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[AFTER: 1 incident, full context]</a:t>
            </a:r>
          </a:p>
        </p:txBody>
      </p:sp>
      <p:sp>
        <p:nvSpPr>
          <p:cNvPr id="448" name="Text 18"/>
          <p:cNvSpPr txBox="1"/>
          <p:nvPr/>
        </p:nvSpPr>
        <p:spPr>
          <a:xfrm>
            <a:off x="5153047" y="1973580"/>
            <a:ext cx="3657601" cy="1223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14:23  [UNIFIED]  INC-20240315-042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Resource:   sg-0abc123 (aws_security_group.api_server_sg)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Severity:   CRITICAL  |  Risk: 0.87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Domain:     SECURITY  |  Actor: john.smith (CloudTrail)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Violations: CIS §5.2, sg_description_required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Blast:      4 downstream resources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1 event · correct team · full context · 5-min response</a:t>
            </a:r>
          </a:p>
        </p:txBody>
      </p:sp>
      <p:sp>
        <p:nvSpPr>
          <p:cNvPr id="449" name="Shape 19"/>
          <p:cNvSpPr/>
          <p:nvPr/>
        </p:nvSpPr>
        <p:spPr>
          <a:xfrm>
            <a:off x="946808" y="3683000"/>
            <a:ext cx="8046720" cy="234061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Shape 20"/>
          <p:cNvSpPr/>
          <p:nvPr/>
        </p:nvSpPr>
        <p:spPr>
          <a:xfrm>
            <a:off x="946808" y="3683000"/>
            <a:ext cx="8046720" cy="17554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1" name="Shape 21"/>
          <p:cNvSpPr/>
          <p:nvPr/>
        </p:nvSpPr>
        <p:spPr>
          <a:xfrm>
            <a:off x="992528" y="3741515"/>
            <a:ext cx="45721" cy="585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2" name="Shape 22"/>
          <p:cNvSpPr/>
          <p:nvPr/>
        </p:nvSpPr>
        <p:spPr>
          <a:xfrm>
            <a:off x="1083968" y="3741515"/>
            <a:ext cx="45721" cy="585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3" name="Shape 23"/>
          <p:cNvSpPr/>
          <p:nvPr/>
        </p:nvSpPr>
        <p:spPr>
          <a:xfrm>
            <a:off x="1175408" y="3741515"/>
            <a:ext cx="45721" cy="585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Text 24"/>
          <p:cNvSpPr txBox="1"/>
          <p:nvPr/>
        </p:nvSpPr>
        <p:spPr>
          <a:xfrm>
            <a:off x="1129687" y="3915409"/>
            <a:ext cx="7680961" cy="201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WINDOW_SECONDS = 900  # 15-minute correlation window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/>
              <a:t>def correlate(events:</a:t>
            </a:r>
            <a:r>
              <a:t> list[DriftEvent]) -&gt; list[DriftEvent]: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groups = defaultdict(list)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 event in events: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bucket = int(event.detected_at.timestamp()) // WINDOW_SECONDS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groups[(event.resource_id, bucket)].append(event)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[merge_group(g) for g in groups.values()]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/>
              <a:t>def merge_group</a:t>
            </a:r>
            <a:r>
              <a:t>(events: list[DriftEvent]) -&gt; DriftEvent: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primary = max(events, key=lambda e: ORDER[e.severity])  # Highest severity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primary.correlation_id = str(uuid.uuid4())[:8]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primary.policy_violations = list(set(v for e in events for v in e.policy_violations))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primary</a:t>
            </a:r>
          </a:p>
        </p:txBody>
      </p:sp>
      <p:grpSp>
        <p:nvGrpSpPr>
          <p:cNvPr id="457" name="Group"/>
          <p:cNvGrpSpPr/>
          <p:nvPr/>
        </p:nvGrpSpPr>
        <p:grpSpPr>
          <a:xfrm>
            <a:off x="9124337" y="1476690"/>
            <a:ext cx="1909219" cy="4506189"/>
            <a:chOff x="0" y="0"/>
            <a:chExt cx="1909218" cy="4506188"/>
          </a:xfrm>
        </p:grpSpPr>
        <p:sp>
          <p:nvSpPr>
            <p:cNvPr id="455" name="Shape 25"/>
            <p:cNvSpPr/>
            <p:nvPr/>
          </p:nvSpPr>
          <p:spPr>
            <a:xfrm>
              <a:off x="0" y="0"/>
              <a:ext cx="1909219" cy="4506189"/>
            </a:xfrm>
            <a:prstGeom prst="rect">
              <a:avLst/>
            </a:prstGeom>
            <a:solidFill>
              <a:srgbClr val="0A0A0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56" name="Text 26"/>
            <p:cNvSpPr txBox="1"/>
            <p:nvPr/>
          </p:nvSpPr>
          <p:spPr>
            <a:xfrm>
              <a:off x="67140" y="1037139"/>
              <a:ext cx="1774939" cy="24319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914400">
                <a:defRPr sz="9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~85% reduction in alert volume. 100% retention of critical signal. Trust in the system → team responds to alerts.</a:t>
              </a:r>
            </a:p>
          </p:txBody>
        </p:sp>
      </p:grpSp>
      <p:sp>
        <p:nvSpPr>
          <p:cNvPr id="458" name="Text 17"/>
          <p:cNvSpPr txBox="1"/>
          <p:nvPr/>
        </p:nvSpPr>
        <p:spPr>
          <a:xfrm>
            <a:off x="3004208" y="3670300"/>
            <a:ext cx="3931920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8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Correlation Engine Working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 0"/>
          <p:cNvSpPr txBox="1"/>
          <p:nvPr/>
        </p:nvSpPr>
        <p:spPr>
          <a:xfrm>
            <a:off x="924244" y="10159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╔═══════════════════╗</a:t>
            </a:r>
          </a:p>
        </p:txBody>
      </p:sp>
      <p:sp>
        <p:nvSpPr>
          <p:cNvPr id="461" name="Text 1"/>
          <p:cNvSpPr txBox="1"/>
          <p:nvPr/>
        </p:nvSpPr>
        <p:spPr>
          <a:xfrm>
            <a:off x="924244" y="30607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THREE-AGENT ARCHITECTURE</a:t>
            </a:r>
          </a:p>
        </p:txBody>
      </p:sp>
      <p:sp>
        <p:nvSpPr>
          <p:cNvPr id="462" name="Text 2"/>
          <p:cNvSpPr txBox="1"/>
          <p:nvPr/>
        </p:nvSpPr>
        <p:spPr>
          <a:xfrm>
            <a:off x="924244" y="65024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╚═══════════════════╝</a:t>
            </a:r>
          </a:p>
        </p:txBody>
      </p:sp>
      <p:sp>
        <p:nvSpPr>
          <p:cNvPr id="463" name="Text 3"/>
          <p:cNvSpPr txBox="1"/>
          <p:nvPr/>
        </p:nvSpPr>
        <p:spPr>
          <a:xfrm>
            <a:off x="741364" y="65074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4/7]</a:t>
            </a:r>
          </a:p>
        </p:txBody>
      </p:sp>
      <p:sp>
        <p:nvSpPr>
          <p:cNvPr id="464" name="Text 4"/>
          <p:cNvSpPr txBox="1"/>
          <p:nvPr/>
        </p:nvSpPr>
        <p:spPr>
          <a:xfrm>
            <a:off x="924244" y="982980"/>
            <a:ext cx="813816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ls -la ./agents/</a:t>
            </a:r>
          </a:p>
        </p:txBody>
      </p:sp>
      <p:sp>
        <p:nvSpPr>
          <p:cNvPr id="465" name="Shape 5"/>
          <p:cNvSpPr/>
          <p:nvPr/>
        </p:nvSpPr>
        <p:spPr>
          <a:xfrm>
            <a:off x="969964" y="1460500"/>
            <a:ext cx="2743201" cy="2103121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6" name="Shape 6"/>
          <p:cNvSpPr/>
          <p:nvPr/>
        </p:nvSpPr>
        <p:spPr>
          <a:xfrm>
            <a:off x="969964" y="1460500"/>
            <a:ext cx="2743201" cy="19177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7" name="Shape 8"/>
          <p:cNvSpPr/>
          <p:nvPr/>
        </p:nvSpPr>
        <p:spPr>
          <a:xfrm>
            <a:off x="1107124" y="15062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8" name="Shape 9"/>
          <p:cNvSpPr/>
          <p:nvPr/>
        </p:nvSpPr>
        <p:spPr>
          <a:xfrm>
            <a:off x="1198564" y="15062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9" name="Text 10"/>
          <p:cNvSpPr txBox="1"/>
          <p:nvPr/>
        </p:nvSpPr>
        <p:spPr>
          <a:xfrm>
            <a:off x="924244" y="1447799"/>
            <a:ext cx="26517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[DETECTIVE]</a:t>
            </a:r>
          </a:p>
        </p:txBody>
      </p:sp>
      <p:sp>
        <p:nvSpPr>
          <p:cNvPr id="470" name="Text 11"/>
          <p:cNvSpPr txBox="1"/>
          <p:nvPr/>
        </p:nvSpPr>
        <p:spPr>
          <a:xfrm>
            <a:off x="1140145" y="1734115"/>
            <a:ext cx="2377441" cy="1816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</a:t>
            </a:r>
            <a:r>
              <a:rPr b="1">
                <a:solidFill>
                  <a:schemeClr val="accent2">
                    <a:lumOff val="8774"/>
                  </a:schemeClr>
                </a:solidFill>
              </a:rPr>
              <a:t>Root Cause Analysis</a:t>
            </a:r>
            <a:endParaRPr>
              <a:solidFill>
                <a:schemeClr val="accent2">
                  <a:lumOff val="8774"/>
                </a:schemeClr>
              </a:solidFill>
            </a:endParaRP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Tools (read-only):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CloudTrail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OPA evaluation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Graph blast radius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RCAReport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auto_remediable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Permissions: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READ ONLY</a:t>
            </a:r>
          </a:p>
        </p:txBody>
      </p:sp>
      <p:sp>
        <p:nvSpPr>
          <p:cNvPr id="471" name="Shape 12"/>
          <p:cNvSpPr/>
          <p:nvPr/>
        </p:nvSpPr>
        <p:spPr>
          <a:xfrm>
            <a:off x="3896044" y="1460500"/>
            <a:ext cx="2743201" cy="210312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2" name="Shape 13"/>
          <p:cNvSpPr/>
          <p:nvPr/>
        </p:nvSpPr>
        <p:spPr>
          <a:xfrm>
            <a:off x="3896044" y="1460500"/>
            <a:ext cx="2743201" cy="18983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3" name="Shape 14"/>
          <p:cNvSpPr/>
          <p:nvPr/>
        </p:nvSpPr>
        <p:spPr>
          <a:xfrm>
            <a:off x="3941764" y="15062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Shape 15"/>
          <p:cNvSpPr/>
          <p:nvPr/>
        </p:nvSpPr>
        <p:spPr>
          <a:xfrm>
            <a:off x="4033204" y="15062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Shape 16"/>
          <p:cNvSpPr/>
          <p:nvPr/>
        </p:nvSpPr>
        <p:spPr>
          <a:xfrm>
            <a:off x="4124644" y="15062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6" name="Text 17"/>
          <p:cNvSpPr txBox="1"/>
          <p:nvPr/>
        </p:nvSpPr>
        <p:spPr>
          <a:xfrm>
            <a:off x="3937954" y="1447799"/>
            <a:ext cx="26517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[SURGEON (MAKER)]</a:t>
            </a:r>
          </a:p>
        </p:txBody>
      </p:sp>
      <p:sp>
        <p:nvSpPr>
          <p:cNvPr id="477" name="Text 18"/>
          <p:cNvSpPr txBox="1"/>
          <p:nvPr/>
        </p:nvSpPr>
        <p:spPr>
          <a:xfrm>
            <a:off x="4078924" y="1734636"/>
            <a:ext cx="2377441" cy="1685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</a:t>
            </a:r>
            <a:r>
              <a:rPr b="1">
                <a:solidFill>
                  <a:schemeClr val="accent3"/>
                </a:solidFill>
              </a:rPr>
              <a:t>Generate Patch</a:t>
            </a:r>
            <a:endParaRPr b="1"/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Actions: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Generate Terraform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Self-correct (3x)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RemediationPlan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HCL patch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Permissions: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NONE (code only)</a:t>
            </a:r>
          </a:p>
        </p:txBody>
      </p:sp>
      <p:sp>
        <p:nvSpPr>
          <p:cNvPr id="478" name="Shape 19"/>
          <p:cNvSpPr/>
          <p:nvPr/>
        </p:nvSpPr>
        <p:spPr>
          <a:xfrm>
            <a:off x="6834823" y="1435100"/>
            <a:ext cx="2194561" cy="210312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9" name="Shape 20"/>
          <p:cNvSpPr/>
          <p:nvPr/>
        </p:nvSpPr>
        <p:spPr>
          <a:xfrm>
            <a:off x="6834823" y="1435100"/>
            <a:ext cx="2194561" cy="180340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0" name="Shape 21"/>
          <p:cNvSpPr/>
          <p:nvPr/>
        </p:nvSpPr>
        <p:spPr>
          <a:xfrm>
            <a:off x="6880544" y="14808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1" name="Shape 22"/>
          <p:cNvSpPr/>
          <p:nvPr/>
        </p:nvSpPr>
        <p:spPr>
          <a:xfrm>
            <a:off x="6971983" y="14808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2" name="Shape 23"/>
          <p:cNvSpPr/>
          <p:nvPr/>
        </p:nvSpPr>
        <p:spPr>
          <a:xfrm>
            <a:off x="7063423" y="14808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3" name="Text 24"/>
          <p:cNvSpPr txBox="1"/>
          <p:nvPr/>
        </p:nvSpPr>
        <p:spPr>
          <a:xfrm>
            <a:off x="6799264" y="1419860"/>
            <a:ext cx="210312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[CHECKER]</a:t>
            </a:r>
          </a:p>
        </p:txBody>
      </p:sp>
      <p:sp>
        <p:nvSpPr>
          <p:cNvPr id="484" name="Text 25"/>
          <p:cNvSpPr txBox="1"/>
          <p:nvPr/>
        </p:nvSpPr>
        <p:spPr>
          <a:xfrm>
            <a:off x="7017703" y="1755140"/>
            <a:ext cx="1828801" cy="1685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</a:t>
            </a:r>
            <a:r>
              <a:rPr b="1">
                <a:solidFill>
                  <a:schemeClr val="accent6"/>
                </a:solidFill>
              </a:rPr>
              <a:t>Validate</a:t>
            </a:r>
            <a:endParaRPr b="1"/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3-Stage: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Syntax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Destructive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OPA policy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CheckerReport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approve/reject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Rejects: 25%</a:t>
            </a:r>
          </a:p>
        </p:txBody>
      </p:sp>
      <p:sp>
        <p:nvSpPr>
          <p:cNvPr id="485" name="Shape 26"/>
          <p:cNvSpPr/>
          <p:nvPr/>
        </p:nvSpPr>
        <p:spPr>
          <a:xfrm>
            <a:off x="969964" y="3746500"/>
            <a:ext cx="8046720" cy="237744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Text 27"/>
          <p:cNvSpPr txBox="1"/>
          <p:nvPr/>
        </p:nvSpPr>
        <p:spPr>
          <a:xfrm>
            <a:off x="1152844" y="3865879"/>
            <a:ext cx="7680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[MAKER-CHECKER PATTERN: MAKER generates · CHECKER validates · HUMANS approve]</a:t>
            </a:r>
          </a:p>
        </p:txBody>
      </p:sp>
      <p:sp>
        <p:nvSpPr>
          <p:cNvPr id="487" name="Text 28"/>
          <p:cNvSpPr txBox="1"/>
          <p:nvPr/>
        </p:nvSpPr>
        <p:spPr>
          <a:xfrm>
            <a:off x="1244284" y="4209752"/>
            <a:ext cx="7498079" cy="1725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[1] Drift detected → Detective analyzes → RCAReport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[2] If auto_remediable: Surgeon (MAKER) generates patch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[3] Checker (CHECKER) validates patch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Stage 1: terraform validate (syntax)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Stage 2: Destructive ops detection (semantic)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Stage 3: OPA policy check (compliance)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[4] If validation passes: Create PR with full context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[5] Human review → OPA gate → Merge → Apply</a:t>
            </a:r>
          </a:p>
          <a:p>
            <a:pPr defTabSz="914400">
              <a:lnSpc>
                <a:spcPct val="12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SAFETY: All agents have zero AWS write permissions.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Only GitHub PR creation (after Checker approval).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No terraform apply. Maker cannot approve own work.</a:t>
            </a:r>
          </a:p>
        </p:txBody>
      </p:sp>
      <p:sp>
        <p:nvSpPr>
          <p:cNvPr id="488" name="Shape 8"/>
          <p:cNvSpPr/>
          <p:nvPr/>
        </p:nvSpPr>
        <p:spPr>
          <a:xfrm>
            <a:off x="1018224" y="15062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9" name="Slide Number Placeholder 3"/>
          <p:cNvSpPr txBox="1"/>
          <p:nvPr>
            <p:ph type="sldNum" sz="quarter" idx="2"/>
          </p:nvPr>
        </p:nvSpPr>
        <p:spPr>
          <a:xfrm>
            <a:off x="11613054" y="387914"/>
            <a:ext cx="284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80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Номер слайда 3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92" name="Text 0"/>
          <p:cNvSpPr txBox="1"/>
          <p:nvPr/>
        </p:nvSpPr>
        <p:spPr>
          <a:xfrm>
            <a:off x="952134" y="3311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╔════════════════════╗</a:t>
            </a:r>
          </a:p>
        </p:txBody>
      </p:sp>
      <p:sp>
        <p:nvSpPr>
          <p:cNvPr id="493" name="Text 1"/>
          <p:cNvSpPr txBox="1"/>
          <p:nvPr/>
        </p:nvSpPr>
        <p:spPr>
          <a:xfrm>
            <a:off x="952134" y="237588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DETECTIVE: IMPLEMENTATION</a:t>
            </a:r>
          </a:p>
        </p:txBody>
      </p:sp>
      <p:sp>
        <p:nvSpPr>
          <p:cNvPr id="494" name="Text 2"/>
          <p:cNvSpPr txBox="1"/>
          <p:nvPr/>
        </p:nvSpPr>
        <p:spPr>
          <a:xfrm>
            <a:off x="952134" y="58175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╚════════════════════╝</a:t>
            </a:r>
          </a:p>
        </p:txBody>
      </p:sp>
      <p:sp>
        <p:nvSpPr>
          <p:cNvPr id="495" name="Text 3"/>
          <p:cNvSpPr txBox="1"/>
          <p:nvPr/>
        </p:nvSpPr>
        <p:spPr>
          <a:xfrm>
            <a:off x="769254" y="6438998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4/7]</a:t>
            </a:r>
          </a:p>
        </p:txBody>
      </p:sp>
      <p:sp>
        <p:nvSpPr>
          <p:cNvPr id="496" name="Text 4"/>
          <p:cNvSpPr txBox="1"/>
          <p:nvPr/>
        </p:nvSpPr>
        <p:spPr>
          <a:xfrm>
            <a:off x="952134" y="914498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code/agents/detective_agent.py</a:t>
            </a:r>
          </a:p>
        </p:txBody>
      </p:sp>
      <p:sp>
        <p:nvSpPr>
          <p:cNvPr id="497" name="Shape 7"/>
          <p:cNvSpPr/>
          <p:nvPr/>
        </p:nvSpPr>
        <p:spPr>
          <a:xfrm>
            <a:off x="1135014" y="1437738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8" name="Shape 8"/>
          <p:cNvSpPr/>
          <p:nvPr/>
        </p:nvSpPr>
        <p:spPr>
          <a:xfrm>
            <a:off x="1226454" y="1437738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9" name="Shape 9"/>
          <p:cNvSpPr/>
          <p:nvPr/>
        </p:nvSpPr>
        <p:spPr>
          <a:xfrm>
            <a:off x="1317894" y="1437738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0" name="Shape 5"/>
          <p:cNvSpPr/>
          <p:nvPr/>
        </p:nvSpPr>
        <p:spPr>
          <a:xfrm>
            <a:off x="1038247" y="1392018"/>
            <a:ext cx="5345423" cy="3829483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1" name="Shape 6"/>
          <p:cNvSpPr/>
          <p:nvPr/>
        </p:nvSpPr>
        <p:spPr>
          <a:xfrm>
            <a:off x="1038247" y="1392018"/>
            <a:ext cx="5345423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Text 10"/>
          <p:cNvSpPr txBox="1"/>
          <p:nvPr/>
        </p:nvSpPr>
        <p:spPr>
          <a:xfrm>
            <a:off x="1148638" y="1609300"/>
            <a:ext cx="7090375" cy="3522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DetectiveAgent: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"""Read-only analyst. Zero write access."""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analyze(self, event: DriftEvent) -&gt; RCAReport: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Step 1: Who made this change? (CloudTrail lookup)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actor = self._query_cloudtrail(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resource_id=event.resource_id,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time_window=event.detected_at,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actions=RESOURCE_ACTION_MAP[event.resource_type]  # ← KEY OPTIMIZATION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Step 2: What policy does this violate? (OPA eval)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violations = self.opa.evaluate(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policy="drift/violations",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input={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"resource_type":  event.resource_type,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"actual_state":   event.actual_state,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"desired_state":  event.desired_state,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"environment":    event.tags.get("environment"),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}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Step 3: LLM synthesis → structured RCAReport output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report: RCAReport = self.llm.complete(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prompt=self._build_rca_prompt(event, actor, violations),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response_format=RCAReport  # ← Pydantic schema, not free text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report</a:t>
            </a:r>
          </a:p>
        </p:txBody>
      </p:sp>
      <p:sp>
        <p:nvSpPr>
          <p:cNvPr id="503" name="Shape 13"/>
          <p:cNvSpPr/>
          <p:nvPr/>
        </p:nvSpPr>
        <p:spPr>
          <a:xfrm>
            <a:off x="6650648" y="1437738"/>
            <a:ext cx="27845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Shape 14"/>
          <p:cNvSpPr/>
          <p:nvPr/>
        </p:nvSpPr>
        <p:spPr>
          <a:xfrm>
            <a:off x="6706336" y="1437738"/>
            <a:ext cx="27845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5" name="Shape 15"/>
          <p:cNvSpPr/>
          <p:nvPr/>
        </p:nvSpPr>
        <p:spPr>
          <a:xfrm>
            <a:off x="6762024" y="1437738"/>
            <a:ext cx="27845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09" name="Group"/>
          <p:cNvGrpSpPr/>
          <p:nvPr/>
        </p:nvGrpSpPr>
        <p:grpSpPr>
          <a:xfrm>
            <a:off x="6530919" y="3178668"/>
            <a:ext cx="4789168" cy="2719850"/>
            <a:chOff x="0" y="0"/>
            <a:chExt cx="4789167" cy="2719848"/>
          </a:xfrm>
        </p:grpSpPr>
        <p:sp>
          <p:nvSpPr>
            <p:cNvPr id="506" name="Shape 11"/>
            <p:cNvSpPr/>
            <p:nvPr/>
          </p:nvSpPr>
          <p:spPr>
            <a:xfrm>
              <a:off x="0" y="0"/>
              <a:ext cx="4789168" cy="2719849"/>
            </a:xfrm>
            <a:prstGeom prst="rect">
              <a:avLst/>
            </a:prstGeom>
            <a:solidFill>
              <a:srgbClr val="0A0A0A"/>
            </a:solidFill>
            <a:ln w="25400" cap="flat">
              <a:solidFill>
                <a:srgbClr val="39FF1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07" name="Shape 12"/>
            <p:cNvSpPr/>
            <p:nvPr/>
          </p:nvSpPr>
          <p:spPr>
            <a:xfrm>
              <a:off x="0" y="0"/>
              <a:ext cx="4789168" cy="137161"/>
            </a:xfrm>
            <a:prstGeom prst="rect">
              <a:avLst/>
            </a:prstGeom>
            <a:solidFill>
              <a:srgbClr val="39FF14"/>
            </a:solidFill>
            <a:ln w="12700" cap="flat">
              <a:solidFill>
                <a:srgbClr val="39FF1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08" name="Text 16"/>
            <p:cNvSpPr txBox="1"/>
            <p:nvPr/>
          </p:nvSpPr>
          <p:spPr>
            <a:xfrm>
              <a:off x="290119" y="257195"/>
              <a:ext cx="4208929" cy="2366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RESOURCE_ACTION_MAP: The Performance Key</a:t>
              </a:r>
            </a:p>
            <a:p>
              <a:pPr defTabSz="914400">
                <a:lnSpc>
                  <a:spcPct val="110000"/>
                </a:lnSpc>
                <a:defRPr sz="8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RESOURCE_ACTION_MAP = {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"aws_security_group": [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"AuthorizeSecurityGroupIngress",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"RevokeSecurityGroupIngress",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"ModifySecurityGroupRules",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],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"aws_iam_role": ["AttachRolePolicy", "PutRolePolicy", "UpdateAssumeRolePolicy"],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"aws_route_table": ["CreateRoute", "DeleteRoute", "ReplaceRoute"],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}</a:t>
              </a:r>
            </a:p>
            <a:p>
              <a:pPr defTabSz="914400">
                <a:lnSpc>
                  <a:spcPct val="110000"/>
                </a:lnSpc>
                <a:defRPr sz="800"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Without it: scan ALL CloudTrail events → expensive, slow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With it: look for SPECIFIC mutation events → fast, targeted</a:t>
              </a:r>
            </a:p>
            <a:p>
              <a:pPr defTabSz="914400">
                <a:lnSpc>
                  <a:spcPct val="110000"/>
                </a:lnSpc>
                <a:defRPr sz="8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Build this map incrementally per resource type. Worth the maintenance overhead.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Номер слайда 3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12" name="Text 0"/>
          <p:cNvSpPr txBox="1"/>
          <p:nvPr/>
        </p:nvSpPr>
        <p:spPr>
          <a:xfrm>
            <a:off x="941925" y="249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╔════════════════════════╗</a:t>
            </a:r>
          </a:p>
        </p:txBody>
      </p:sp>
      <p:sp>
        <p:nvSpPr>
          <p:cNvPr id="513" name="Text 1"/>
          <p:cNvSpPr txBox="1"/>
          <p:nvPr/>
        </p:nvSpPr>
        <p:spPr>
          <a:xfrm>
            <a:off x="941925" y="20696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DETECTIVE OUTPUT: COMPLETE RCA</a:t>
            </a:r>
          </a:p>
        </p:txBody>
      </p:sp>
      <p:sp>
        <p:nvSpPr>
          <p:cNvPr id="514" name="Text 2"/>
          <p:cNvSpPr txBox="1"/>
          <p:nvPr/>
        </p:nvSpPr>
        <p:spPr>
          <a:xfrm>
            <a:off x="941925" y="55113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╚════════════════════════╝</a:t>
            </a:r>
          </a:p>
        </p:txBody>
      </p:sp>
      <p:sp>
        <p:nvSpPr>
          <p:cNvPr id="515" name="Text 3"/>
          <p:cNvSpPr txBox="1"/>
          <p:nvPr/>
        </p:nvSpPr>
        <p:spPr>
          <a:xfrm>
            <a:off x="690465" y="6503587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4/7]</a:t>
            </a:r>
          </a:p>
        </p:txBody>
      </p:sp>
      <p:sp>
        <p:nvSpPr>
          <p:cNvPr id="516" name="Text 4"/>
          <p:cNvSpPr txBox="1"/>
          <p:nvPr/>
        </p:nvSpPr>
        <p:spPr>
          <a:xfrm>
            <a:off x="941925" y="883870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drift-cli analyze --event-id evt_sg_001</a:t>
            </a:r>
          </a:p>
        </p:txBody>
      </p:sp>
      <p:sp>
        <p:nvSpPr>
          <p:cNvPr id="517" name="Shape 5"/>
          <p:cNvSpPr/>
          <p:nvPr/>
        </p:nvSpPr>
        <p:spPr>
          <a:xfrm>
            <a:off x="1079085" y="1361390"/>
            <a:ext cx="7863841" cy="5060572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8" name="Shape 6"/>
          <p:cNvSpPr/>
          <p:nvPr/>
        </p:nvSpPr>
        <p:spPr>
          <a:xfrm>
            <a:off x="1079085" y="1361390"/>
            <a:ext cx="7863841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9" name="Shape 7"/>
          <p:cNvSpPr/>
          <p:nvPr/>
        </p:nvSpPr>
        <p:spPr>
          <a:xfrm>
            <a:off x="1124805" y="140711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Shape 8"/>
          <p:cNvSpPr/>
          <p:nvPr/>
        </p:nvSpPr>
        <p:spPr>
          <a:xfrm>
            <a:off x="1216245" y="140711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1" name="Shape 9"/>
          <p:cNvSpPr/>
          <p:nvPr/>
        </p:nvSpPr>
        <p:spPr>
          <a:xfrm>
            <a:off x="1307685" y="140711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2" name="Text 10"/>
          <p:cNvSpPr txBox="1"/>
          <p:nvPr/>
        </p:nvSpPr>
        <p:spPr>
          <a:xfrm>
            <a:off x="1261965" y="1645870"/>
            <a:ext cx="7498080" cy="619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[DRIFT EVENT] evt_sg_20240315_001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Resource:  sg-0abc123  (aws_security_group.api_server_sg)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Domain:    SECURITY  ·  Severity: CRITICAL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Detected:  </a:t>
            </a:r>
            <a:r>
              <a:rPr>
                <a:solidFill>
                  <a:schemeClr val="accent2">
                    <a:lumOff val="8774"/>
                  </a:schemeClr>
                </a:solidFill>
              </a:rPr>
              <a:t>2024-03-15</a:t>
            </a:r>
            <a:r>
              <a:t>  14:23:11 UTC</a:t>
            </a:r>
          </a:p>
        </p:txBody>
      </p:sp>
      <p:sp>
        <p:nvSpPr>
          <p:cNvPr id="523" name="Text 13"/>
          <p:cNvSpPr txBox="1"/>
          <p:nvPr/>
        </p:nvSpPr>
        <p:spPr>
          <a:xfrm>
            <a:off x="1261965" y="2292625"/>
            <a:ext cx="749808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[DELTA] (what changed)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ingress[0].cidr_blocks : ["10.0.0.0/8"] → </a:t>
            </a:r>
            <a:r>
              <a:rPr>
                <a:solidFill>
                  <a:srgbClr val="E00408"/>
                </a:solidFill>
              </a:rPr>
              <a:t>["0.0.0.0/0"]</a:t>
            </a:r>
            <a:endParaRPr>
              <a:solidFill>
                <a:srgbClr val="E00408"/>
              </a:solidFill>
            </a:endParaR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ingress[0].description : "Internal SSH only" → ""</a:t>
            </a:r>
          </a:p>
        </p:txBody>
      </p:sp>
      <p:sp>
        <p:nvSpPr>
          <p:cNvPr id="524" name="Text 17"/>
          <p:cNvSpPr txBox="1"/>
          <p:nvPr/>
        </p:nvSpPr>
        <p:spPr>
          <a:xfrm>
            <a:off x="1261965" y="2758390"/>
            <a:ext cx="7498080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[ACTOR] (CloudTrail LookupEvents)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User:      arn:aws:iam::123456789012:user/</a:t>
            </a:r>
            <a:r>
              <a:rPr>
                <a:solidFill>
                  <a:schemeClr val="accent4"/>
                </a:solidFill>
              </a:rPr>
              <a:t>john.smith</a:t>
            </a:r>
            <a:endParaRPr>
              <a:solidFill>
                <a:schemeClr val="accent4"/>
              </a:solidFill>
            </a:endParaR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Action:    AuthorizeSecurityGroupIngress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Time:      2024-03-15 14:19:44 UTC  (4 min before detection)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Source IP: 203.0.113.42  ← </a:t>
            </a:r>
            <a:r>
              <a:rPr>
                <a:solidFill>
                  <a:schemeClr val="accent5"/>
                </a:solidFill>
              </a:rPr>
              <a:t>external IP, not in VPN range</a:t>
            </a:r>
            <a:endParaRPr>
              <a:solidFill>
                <a:schemeClr val="accent5"/>
              </a:solidFill>
            </a:endParaR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Via:       AWS Management Console</a:t>
            </a:r>
          </a:p>
        </p:txBody>
      </p:sp>
      <p:sp>
        <p:nvSpPr>
          <p:cNvPr id="525" name="Text 21"/>
          <p:cNvSpPr txBox="1"/>
          <p:nvPr/>
        </p:nvSpPr>
        <p:spPr>
          <a:xfrm>
            <a:off x="1261965" y="3486749"/>
            <a:ext cx="7498080" cy="280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[BLAST RADIUS] (graph, depth=3)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├─ i-0a1b2c3d  EC2:app-prod-1      direct SSH exposure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├─ i-0e5f6g7h  EC2:app-prod-2      direct SSH exposure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├─ db-prod     RDS:primary         via exposed EC2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└─ fs-0a1b2c   EFS:mount           on exposed instances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[POLICY VIOLATIONS]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[CRITICAL]  CIS AWS §5.2  —  no_public_ssh_access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[HIGH]      Internal policy  —  sg_description_required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[RISK SCORE]  </a:t>
            </a:r>
            <a:r>
              <a:rPr>
                <a:solidFill>
                  <a:schemeClr val="accent3"/>
                </a:solidFill>
              </a:rPr>
              <a:t>0.96</a:t>
            </a:r>
            <a:r>
              <a:t> / 1.0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[ROOT CAUSE]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Summary:    Developer opened SSH to internet for debugging.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Change not reverted.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Root Cause: john.smith modified sg-0abc123 at 14:19 via Console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from external IP (probable remote session)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Intent:     Temporary debug access. High confidence: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external IP · ingress-only change · no ticket found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Auto-Remediable: FALSE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Reason: security domain + production + risk 0.87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Requires label: secops/approved on remediation PR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</a:t>
            </a:r>
            <a:r>
              <a:rPr>
                <a:solidFill>
                  <a:schemeClr val="accent1"/>
                </a:solidFill>
              </a:rPr>
              <a:t>Forwarding RCAReport to Surgeon Agent...</a:t>
            </a:r>
          </a:p>
        </p:txBody>
      </p:sp>
      <p:sp>
        <p:nvSpPr>
          <p:cNvPr id="526" name="Text 17"/>
          <p:cNvSpPr txBox="1"/>
          <p:nvPr/>
        </p:nvSpPr>
        <p:spPr>
          <a:xfrm>
            <a:off x="5153868" y="4358406"/>
            <a:ext cx="7498080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Base criticality: aws_security_group = 0.8</a:t>
            </a:r>
          </a:p>
          <a:p>
            <a:pPr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Blast radius: 4 resources</a:t>
            </a:r>
          </a:p>
          <a:p>
            <a:pPr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Multiplier: 1.0 + (4 × 0.05) = 1.2</a:t>
            </a:r>
          </a:p>
          <a:p>
            <a:pPr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Score: 0.8 × 1.2 = 0.96 (capped at 1.0)</a:t>
            </a:r>
          </a:p>
          <a:p>
            <a:pPr>
              <a:defRPr sz="800">
                <a:solidFill>
                  <a:srgbClr val="A7A7A7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</a:t>
            </a:r>
            <a:r>
              <a:rPr b="1">
                <a:solidFill>
                  <a:schemeClr val="accent3"/>
                </a:solidFill>
              </a:rPr>
              <a:t>0.96</a:t>
            </a:r>
          </a:p>
        </p:txBody>
      </p:sp>
      <p:sp>
        <p:nvSpPr>
          <p:cNvPr id="527" name="Shape 5"/>
          <p:cNvSpPr/>
          <p:nvPr/>
        </p:nvSpPr>
        <p:spPr>
          <a:xfrm>
            <a:off x="5075657" y="4264766"/>
            <a:ext cx="3527128" cy="850220"/>
          </a:xfrm>
          <a:prstGeom prst="rect">
            <a:avLst/>
          </a:prstGeom>
          <a:ln w="25400">
            <a:solidFill>
              <a:schemeClr val="accent3">
                <a:lumOff val="17156"/>
              </a:schemeClr>
            </a:solidFill>
          </a:ln>
        </p:spPr>
        <p:txBody>
          <a:bodyPr lIns="45719" rIns="45719"/>
          <a:lstStyle/>
          <a:p>
            <a:pPr defTabSz="914400">
              <a:defRPr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30" name="Text 0"/>
          <p:cNvSpPr txBox="1"/>
          <p:nvPr/>
        </p:nvSpPr>
        <p:spPr>
          <a:xfrm>
            <a:off x="1002283" y="3154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╔══════════════════════╗</a:t>
            </a:r>
          </a:p>
        </p:txBody>
      </p:sp>
      <p:sp>
        <p:nvSpPr>
          <p:cNvPr id="531" name="Text 1"/>
          <p:cNvSpPr txBox="1"/>
          <p:nvPr/>
        </p:nvSpPr>
        <p:spPr>
          <a:xfrm>
            <a:off x="1002283" y="236013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MAKER-CHECKER: WHY 2 AGENTS?</a:t>
            </a:r>
          </a:p>
        </p:txBody>
      </p:sp>
      <p:sp>
        <p:nvSpPr>
          <p:cNvPr id="532" name="Text 2"/>
          <p:cNvSpPr txBox="1"/>
          <p:nvPr/>
        </p:nvSpPr>
        <p:spPr>
          <a:xfrm>
            <a:off x="1002283" y="58018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╚══════════════════════╝</a:t>
            </a:r>
          </a:p>
        </p:txBody>
      </p:sp>
      <p:sp>
        <p:nvSpPr>
          <p:cNvPr id="533" name="Text 4"/>
          <p:cNvSpPr txBox="1"/>
          <p:nvPr/>
        </p:nvSpPr>
        <p:spPr>
          <a:xfrm>
            <a:off x="1002283" y="912923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architecture.md | grep -A5 'Maker-Checker'</a:t>
            </a:r>
          </a:p>
        </p:txBody>
      </p:sp>
      <p:sp>
        <p:nvSpPr>
          <p:cNvPr id="534" name="Shape 5"/>
          <p:cNvSpPr/>
          <p:nvPr/>
        </p:nvSpPr>
        <p:spPr>
          <a:xfrm>
            <a:off x="1139443" y="1390443"/>
            <a:ext cx="3840481" cy="284480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5" name="Shape 6"/>
          <p:cNvSpPr/>
          <p:nvPr/>
        </p:nvSpPr>
        <p:spPr>
          <a:xfrm>
            <a:off x="1139443" y="1390443"/>
            <a:ext cx="3840481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Shape 7"/>
          <p:cNvSpPr/>
          <p:nvPr/>
        </p:nvSpPr>
        <p:spPr>
          <a:xfrm>
            <a:off x="1185163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7" name="Shape 8"/>
          <p:cNvSpPr/>
          <p:nvPr/>
        </p:nvSpPr>
        <p:spPr>
          <a:xfrm>
            <a:off x="1276603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8" name="Shape 9"/>
          <p:cNvSpPr/>
          <p:nvPr/>
        </p:nvSpPr>
        <p:spPr>
          <a:xfrm>
            <a:off x="1368043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Text 10"/>
          <p:cNvSpPr txBox="1"/>
          <p:nvPr/>
        </p:nvSpPr>
        <p:spPr>
          <a:xfrm>
            <a:off x="1185163" y="1357423"/>
            <a:ext cx="374904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[MAKER: SURGEON AGENT]</a:t>
            </a:r>
          </a:p>
        </p:txBody>
      </p:sp>
      <p:sp>
        <p:nvSpPr>
          <p:cNvPr id="540" name="Text 11"/>
          <p:cNvSpPr txBox="1"/>
          <p:nvPr/>
        </p:nvSpPr>
        <p:spPr>
          <a:xfrm>
            <a:off x="1322323" y="1565210"/>
            <a:ext cx="3474720" cy="2605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Generate remediation patches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OPTIMIZED FOR: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Speed - generate patch in 2-3s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Creativity - find right fix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Context - understand RCA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CONSTRAINTS: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Temperature: 0.0 (deterministic)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Structured output (Pydantic)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~2,600-word prompt template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Self-correction loop (3 retries)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RemediationPlan: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terraform_patch: str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reasoning: str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affected_resources: list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risk_assessment: dict</a:t>
            </a:r>
          </a:p>
        </p:txBody>
      </p:sp>
      <p:sp>
        <p:nvSpPr>
          <p:cNvPr id="541" name="Shape 12"/>
          <p:cNvSpPr/>
          <p:nvPr/>
        </p:nvSpPr>
        <p:spPr>
          <a:xfrm>
            <a:off x="5162803" y="1390443"/>
            <a:ext cx="3840481" cy="2830799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Shape 13"/>
          <p:cNvSpPr/>
          <p:nvPr/>
        </p:nvSpPr>
        <p:spPr>
          <a:xfrm>
            <a:off x="5162803" y="1390443"/>
            <a:ext cx="384048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3" name="Shape 14"/>
          <p:cNvSpPr/>
          <p:nvPr/>
        </p:nvSpPr>
        <p:spPr>
          <a:xfrm>
            <a:off x="5208523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4" name="Shape 15"/>
          <p:cNvSpPr/>
          <p:nvPr/>
        </p:nvSpPr>
        <p:spPr>
          <a:xfrm>
            <a:off x="5299963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Shape 16"/>
          <p:cNvSpPr/>
          <p:nvPr/>
        </p:nvSpPr>
        <p:spPr>
          <a:xfrm>
            <a:off x="5391403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6" name="Text 17"/>
          <p:cNvSpPr txBox="1"/>
          <p:nvPr/>
        </p:nvSpPr>
        <p:spPr>
          <a:xfrm>
            <a:off x="5208523" y="1357423"/>
            <a:ext cx="374904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[CHECKER: VALIDATION AGENT]</a:t>
            </a:r>
          </a:p>
        </p:txBody>
      </p:sp>
      <p:sp>
        <p:nvSpPr>
          <p:cNvPr id="547" name="Text 18"/>
          <p:cNvSpPr txBox="1"/>
          <p:nvPr/>
        </p:nvSpPr>
        <p:spPr>
          <a:xfrm>
            <a:off x="5345683" y="1571560"/>
            <a:ext cx="3474720" cy="2605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Validate Surgeon's output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OPTIMIZED FOR: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Safety - catch destructive ops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Compliance - OPA policy checks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Correctness - syntax validation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CONSTRAINTS: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Zero trust in Surgeon output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- 3-stage validation pipeline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Conservative bias (reject &gt; approve)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Separate model instance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CheckerReport: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validation_passed: bool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destructive_changes: list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policy_violations: list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 recommendation: str</a:t>
            </a:r>
          </a:p>
        </p:txBody>
      </p:sp>
      <p:sp>
        <p:nvSpPr>
          <p:cNvPr id="548" name="Shape 19"/>
          <p:cNvSpPr/>
          <p:nvPr/>
        </p:nvSpPr>
        <p:spPr>
          <a:xfrm>
            <a:off x="1139443" y="4301001"/>
            <a:ext cx="7863841" cy="2234918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Shape 20"/>
          <p:cNvSpPr/>
          <p:nvPr/>
        </p:nvSpPr>
        <p:spPr>
          <a:xfrm>
            <a:off x="1139443" y="4301001"/>
            <a:ext cx="7863841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0" name="Shape 21"/>
          <p:cNvSpPr/>
          <p:nvPr/>
        </p:nvSpPr>
        <p:spPr>
          <a:xfrm>
            <a:off x="1185163" y="4346721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1" name="Shape 22"/>
          <p:cNvSpPr/>
          <p:nvPr/>
        </p:nvSpPr>
        <p:spPr>
          <a:xfrm>
            <a:off x="1276603" y="4346721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2" name="Shape 23"/>
          <p:cNvSpPr/>
          <p:nvPr/>
        </p:nvSpPr>
        <p:spPr>
          <a:xfrm>
            <a:off x="1368043" y="4346721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3" name="Text 24"/>
          <p:cNvSpPr txBox="1"/>
          <p:nvPr/>
        </p:nvSpPr>
        <p:spPr>
          <a:xfrm>
            <a:off x="1322323" y="4443524"/>
            <a:ext cx="7498080" cy="2068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DIFFERENT OBJECTIVES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Maker: "How do I fix this?" (generative, creative)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Checker: "Is this fix safe?" (analytical, conservative)</a:t>
            </a:r>
            <a:br/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PREVENT SELF-VALIDATION BIAS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LLM validating its own output → 60% hallucination rate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Separate agent → 95% accuracy (measured in production)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COMPLIANCE REQUIREMENT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Financial services regulation: maker-checker for all infra changes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Agent = Maker, Checker Agent = independent validator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4. STATISTICAL INDEPENDENCE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Separate model instances, separate prompts, separate context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Reduces correlated errors</a:t>
            </a:r>
          </a:p>
        </p:txBody>
      </p:sp>
      <p:sp>
        <p:nvSpPr>
          <p:cNvPr id="554" name="Text 17"/>
          <p:cNvSpPr txBox="1"/>
          <p:nvPr/>
        </p:nvSpPr>
        <p:spPr>
          <a:xfrm>
            <a:off x="2819863" y="4260360"/>
            <a:ext cx="374904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[WHY SEPERATE AGENT??]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57" name="Text 0"/>
          <p:cNvSpPr txBox="1"/>
          <p:nvPr/>
        </p:nvSpPr>
        <p:spPr>
          <a:xfrm>
            <a:off x="1011705" y="22121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╔══════════════════════════╗</a:t>
            </a:r>
          </a:p>
        </p:txBody>
      </p:sp>
      <p:sp>
        <p:nvSpPr>
          <p:cNvPr id="558" name="Text 1"/>
          <p:cNvSpPr txBox="1"/>
          <p:nvPr/>
        </p:nvSpPr>
        <p:spPr>
          <a:xfrm>
            <a:off x="1011705" y="226591"/>
            <a:ext cx="81381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CHECKER AGENT: 3-STAGE VALIDATION</a:t>
            </a:r>
          </a:p>
        </p:txBody>
      </p:sp>
      <p:sp>
        <p:nvSpPr>
          <p:cNvPr id="559" name="Text 2"/>
          <p:cNvSpPr txBox="1"/>
          <p:nvPr/>
        </p:nvSpPr>
        <p:spPr>
          <a:xfrm>
            <a:off x="1011705" y="570761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╚══════════════════════════╝</a:t>
            </a:r>
          </a:p>
        </p:txBody>
      </p:sp>
      <p:sp>
        <p:nvSpPr>
          <p:cNvPr id="560" name="Text 3"/>
          <p:cNvSpPr txBox="1"/>
          <p:nvPr/>
        </p:nvSpPr>
        <p:spPr>
          <a:xfrm>
            <a:off x="828825" y="6428001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4/7]</a:t>
            </a:r>
          </a:p>
        </p:txBody>
      </p:sp>
      <p:sp>
        <p:nvSpPr>
          <p:cNvPr id="561" name="Text 4"/>
          <p:cNvSpPr txBox="1"/>
          <p:nvPr/>
        </p:nvSpPr>
        <p:spPr>
          <a:xfrm>
            <a:off x="1011705" y="903501"/>
            <a:ext cx="81381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code/agents/checker_agent.py</a:t>
            </a:r>
          </a:p>
        </p:txBody>
      </p:sp>
      <p:sp>
        <p:nvSpPr>
          <p:cNvPr id="562" name="Shape 5"/>
          <p:cNvSpPr/>
          <p:nvPr/>
        </p:nvSpPr>
        <p:spPr>
          <a:xfrm>
            <a:off x="1148865" y="1381021"/>
            <a:ext cx="7863841" cy="457200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Shape 6"/>
          <p:cNvSpPr/>
          <p:nvPr/>
        </p:nvSpPr>
        <p:spPr>
          <a:xfrm>
            <a:off x="1148865" y="1381021"/>
            <a:ext cx="786384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4" name="Shape 7"/>
          <p:cNvSpPr/>
          <p:nvPr/>
        </p:nvSpPr>
        <p:spPr>
          <a:xfrm>
            <a:off x="1194585" y="1426741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5" name="Shape 8"/>
          <p:cNvSpPr/>
          <p:nvPr/>
        </p:nvSpPr>
        <p:spPr>
          <a:xfrm>
            <a:off x="1286025" y="1426741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Shape 9"/>
          <p:cNvSpPr/>
          <p:nvPr/>
        </p:nvSpPr>
        <p:spPr>
          <a:xfrm>
            <a:off x="1377465" y="1426741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7" name="Text 10"/>
          <p:cNvSpPr txBox="1"/>
          <p:nvPr/>
        </p:nvSpPr>
        <p:spPr>
          <a:xfrm>
            <a:off x="1331745" y="1634669"/>
            <a:ext cx="7498079" cy="4156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3-Stage Validation Pipeline (Maker-Checker Pattern)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CheckerAgent: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"""Independent validator - zero trust on Surgeon output"""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validate(self, plan: RemediationPlan, drift: DriftEvent):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STAGE 1: SYNTAX (terraform fmt, &lt; 1s)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if not terraform_validate(plan.patch):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return REJECT("Invalid HCL syntax")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STAGE 2: SEMANTIC (LLM-powered safety check)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forbidden = ["force_destroy", "prevent_destroy=false",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 "CIDR: 0.0.0.0/0", "data resource deletion"]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if llm.detect_destructive_ops(plan.patch, forbidden):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return REJECT("Destructive operation detected")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STAGE 3: POLICY (OPA evaluation against tier rules)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if not opa.evaluate(plan.patch, drift.environment, drift.risk_score):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return REJECT("Policy violation - tier threshold exceeded")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APPROVE()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FAIL-FAST PIPELINE: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[Syntax] ---&gt; [Semantic] ---&gt; [Policy] ---&gt; APPROVE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  |             |               |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REJECT        REJECT          REJECT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PRODUCTION METRICS (30 days):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Stage 1 rejects: 12% (syntax)  Stage 2: 8% (destructive)  Stage 3: 5% (policy)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Total approval rate: 75%  |  Avg validation time: 2.3s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[FILE: code/agents/checker_agent.py] | [USES: ValidationPipeline, OPA]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0" name="Text 0"/>
          <p:cNvSpPr txBox="1"/>
          <p:nvPr/>
        </p:nvSpPr>
        <p:spPr>
          <a:xfrm>
            <a:off x="983439" y="1269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╔═══════════════════╗</a:t>
            </a:r>
          </a:p>
        </p:txBody>
      </p:sp>
      <p:sp>
        <p:nvSpPr>
          <p:cNvPr id="571" name="Text 1"/>
          <p:cNvSpPr txBox="1"/>
          <p:nvPr/>
        </p:nvSpPr>
        <p:spPr>
          <a:xfrm>
            <a:off x="983439" y="21717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chemeClr val="accent6">
                    <a:satOff val="-42395"/>
                    <a:lumOff val="-14352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SURGEON: SELF-CORRECTION</a:t>
            </a:r>
          </a:p>
        </p:txBody>
      </p:sp>
      <p:sp>
        <p:nvSpPr>
          <p:cNvPr id="572" name="Text 2"/>
          <p:cNvSpPr txBox="1"/>
          <p:nvPr/>
        </p:nvSpPr>
        <p:spPr>
          <a:xfrm>
            <a:off x="983439" y="56134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╚═══════════════════╝</a:t>
            </a:r>
          </a:p>
        </p:txBody>
      </p:sp>
      <p:sp>
        <p:nvSpPr>
          <p:cNvPr id="573" name="Text 3"/>
          <p:cNvSpPr txBox="1"/>
          <p:nvPr/>
        </p:nvSpPr>
        <p:spPr>
          <a:xfrm>
            <a:off x="800559" y="64185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4/7]</a:t>
            </a:r>
          </a:p>
        </p:txBody>
      </p:sp>
      <p:sp>
        <p:nvSpPr>
          <p:cNvPr id="574" name="Text 4"/>
          <p:cNvSpPr txBox="1"/>
          <p:nvPr/>
        </p:nvSpPr>
        <p:spPr>
          <a:xfrm>
            <a:off x="983439" y="894080"/>
            <a:ext cx="813816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chemeClr val="accent6">
                    <a:satOff val="-42395"/>
                    <a:lumOff val="-14352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code/agents/surgeon_agent.py</a:t>
            </a:r>
          </a:p>
        </p:txBody>
      </p:sp>
      <p:sp>
        <p:nvSpPr>
          <p:cNvPr id="575" name="Shape 5"/>
          <p:cNvSpPr/>
          <p:nvPr/>
        </p:nvSpPr>
        <p:spPr>
          <a:xfrm>
            <a:off x="1120599" y="1371600"/>
            <a:ext cx="7863841" cy="4966762"/>
          </a:xfrm>
          <a:prstGeom prst="rect">
            <a:avLst/>
          </a:prstGeom>
          <a:solidFill>
            <a:srgbClr val="0A0A0A"/>
          </a:solidFill>
          <a:ln w="25400">
            <a:solidFill>
              <a:schemeClr val="accent6">
                <a:satOff val="-42395"/>
                <a:lumOff val="-14352"/>
              </a:schemeClr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6" name="Shape 6"/>
          <p:cNvSpPr/>
          <p:nvPr/>
        </p:nvSpPr>
        <p:spPr>
          <a:xfrm>
            <a:off x="1120599" y="1371600"/>
            <a:ext cx="7863841" cy="137161"/>
          </a:xfrm>
          <a:prstGeom prst="rect">
            <a:avLst/>
          </a:prstGeom>
          <a:solidFill>
            <a:schemeClr val="accent6">
              <a:satOff val="-42395"/>
              <a:lumOff val="-14352"/>
            </a:schemeClr>
          </a:solidFill>
          <a:ln w="12700">
            <a:solidFill>
              <a:schemeClr val="accent6">
                <a:satOff val="-42395"/>
                <a:lumOff val="-14352"/>
              </a:schemeClr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Shape 7"/>
          <p:cNvSpPr/>
          <p:nvPr/>
        </p:nvSpPr>
        <p:spPr>
          <a:xfrm>
            <a:off x="1166319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8" name="Shape 8"/>
          <p:cNvSpPr/>
          <p:nvPr/>
        </p:nvSpPr>
        <p:spPr>
          <a:xfrm>
            <a:off x="1257759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9" name="Shape 9"/>
          <p:cNvSpPr/>
          <p:nvPr/>
        </p:nvSpPr>
        <p:spPr>
          <a:xfrm>
            <a:off x="1349199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Text 10"/>
          <p:cNvSpPr txBox="1"/>
          <p:nvPr/>
        </p:nvSpPr>
        <p:spPr>
          <a:xfrm>
            <a:off x="1303479" y="1544528"/>
            <a:ext cx="7498080" cy="476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PSEUDOCODE: Self-Correction Loop (Maker in Maker-Checker)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MAX_ATTEMPTS = 3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attempt in range(MAX_ATTEMPTS):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1. GENERATE (LLM with structured output)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patch = llm.generate(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prompt=build_prompt(rca, previous_errors),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response_format=TerraformPatch,  # Pydantic schema enforced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model="claude-sonnet-4.6"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2. VALIDATE (three-stage pipeline)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Stage 1: Syntax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terraform_validate(patch).has_errors: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previous_errors = result.errors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continue  # Retry with error context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Stage 2: Destructive check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terraform_plan(patch).has_destructive_changes: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escalate_to_human("Destructive operation detected")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None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Stage 3: OPA policy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not opa.evaluate(patch).allowed: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previous_errors = policy.violations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continue  # Retry with policy feedback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SUCCESS: Create PR and exit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create_pr(patch, rca, validation_results)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All attempts exhausted → human escalation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escalate_to_human(rca, all_errors)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PRODUCTION STATS: 75% first-try | 95% after 3 attempts | 5% escalated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[FILE: code/agents/surgeon_agent.py]  [RETRY LOOP]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3" name="Text 0"/>
          <p:cNvSpPr txBox="1"/>
          <p:nvPr/>
        </p:nvSpPr>
        <p:spPr>
          <a:xfrm>
            <a:off x="502919" y="285936"/>
            <a:ext cx="304791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╔══════════════════╗</a:t>
            </a:r>
          </a:p>
        </p:txBody>
      </p:sp>
      <p:sp>
        <p:nvSpPr>
          <p:cNvPr id="584" name="Text 1"/>
          <p:cNvSpPr txBox="1"/>
          <p:nvPr/>
        </p:nvSpPr>
        <p:spPr>
          <a:xfrm>
            <a:off x="512341" y="531751"/>
            <a:ext cx="4589495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DOMAIN-SPECIFIC PROMPTS</a:t>
            </a:r>
          </a:p>
        </p:txBody>
      </p:sp>
      <p:sp>
        <p:nvSpPr>
          <p:cNvPr id="585" name="Text 2"/>
          <p:cNvSpPr txBox="1"/>
          <p:nvPr/>
        </p:nvSpPr>
        <p:spPr>
          <a:xfrm>
            <a:off x="502919" y="901998"/>
            <a:ext cx="304791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╚══════════════════╝</a:t>
            </a:r>
          </a:p>
        </p:txBody>
      </p:sp>
      <p:sp>
        <p:nvSpPr>
          <p:cNvPr id="586" name="Text 3"/>
          <p:cNvSpPr txBox="1"/>
          <p:nvPr/>
        </p:nvSpPr>
        <p:spPr>
          <a:xfrm>
            <a:off x="320040" y="64185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4/7]</a:t>
            </a:r>
          </a:p>
        </p:txBody>
      </p:sp>
      <p:sp>
        <p:nvSpPr>
          <p:cNvPr id="587" name="Text 4"/>
          <p:cNvSpPr txBox="1"/>
          <p:nvPr/>
        </p:nvSpPr>
        <p:spPr>
          <a:xfrm>
            <a:off x="502919" y="1199013"/>
            <a:ext cx="304791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1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prompt_templates.md</a:t>
            </a:r>
          </a:p>
        </p:txBody>
      </p:sp>
      <p:sp>
        <p:nvSpPr>
          <p:cNvPr id="588" name="Text 5"/>
          <p:cNvSpPr txBox="1"/>
          <p:nvPr/>
        </p:nvSpPr>
        <p:spPr>
          <a:xfrm>
            <a:off x="6106199" y="398883"/>
            <a:ext cx="795528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9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[1] INFRASTRUCTURE DOMAIN</a:t>
            </a:r>
          </a:p>
        </p:txBody>
      </p:sp>
      <p:sp>
        <p:nvSpPr>
          <p:cNvPr id="589" name="Shape 6"/>
          <p:cNvSpPr/>
          <p:nvPr/>
        </p:nvSpPr>
        <p:spPr>
          <a:xfrm>
            <a:off x="6178382" y="626285"/>
            <a:ext cx="4631044" cy="2474728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Shape 7"/>
          <p:cNvSpPr/>
          <p:nvPr/>
        </p:nvSpPr>
        <p:spPr>
          <a:xfrm>
            <a:off x="6173845" y="629541"/>
            <a:ext cx="4640118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1" name="Shape 8"/>
          <p:cNvSpPr/>
          <p:nvPr/>
        </p:nvSpPr>
        <p:spPr>
          <a:xfrm>
            <a:off x="594359" y="137160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2" name="Shape 9"/>
          <p:cNvSpPr/>
          <p:nvPr/>
        </p:nvSpPr>
        <p:spPr>
          <a:xfrm>
            <a:off x="685800" y="137160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3" name="Shape 10"/>
          <p:cNvSpPr/>
          <p:nvPr/>
        </p:nvSpPr>
        <p:spPr>
          <a:xfrm>
            <a:off x="777240" y="137160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4" name="Text 12"/>
          <p:cNvSpPr txBox="1"/>
          <p:nvPr/>
        </p:nvSpPr>
        <p:spPr>
          <a:xfrm>
            <a:off x="481296" y="3278813"/>
            <a:ext cx="795528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9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[2] SECURITY DOMAIN</a:t>
            </a:r>
          </a:p>
        </p:txBody>
      </p:sp>
      <p:sp>
        <p:nvSpPr>
          <p:cNvPr id="595" name="Shape 13"/>
          <p:cNvSpPr/>
          <p:nvPr/>
        </p:nvSpPr>
        <p:spPr>
          <a:xfrm>
            <a:off x="529796" y="3534337"/>
            <a:ext cx="5173320" cy="2710383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6" name="Shape 14"/>
          <p:cNvSpPr/>
          <p:nvPr/>
        </p:nvSpPr>
        <p:spPr>
          <a:xfrm>
            <a:off x="529796" y="3534337"/>
            <a:ext cx="5173320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7" name="Shape 15"/>
          <p:cNvSpPr/>
          <p:nvPr/>
        </p:nvSpPr>
        <p:spPr>
          <a:xfrm>
            <a:off x="575516" y="3580057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8" name="Shape 16"/>
          <p:cNvSpPr/>
          <p:nvPr/>
        </p:nvSpPr>
        <p:spPr>
          <a:xfrm>
            <a:off x="666956" y="3580057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9" name="Shape 17"/>
          <p:cNvSpPr/>
          <p:nvPr/>
        </p:nvSpPr>
        <p:spPr>
          <a:xfrm>
            <a:off x="758396" y="3580057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0" name="Text 19"/>
          <p:cNvSpPr txBox="1"/>
          <p:nvPr/>
        </p:nvSpPr>
        <p:spPr>
          <a:xfrm>
            <a:off x="6106199" y="3278813"/>
            <a:ext cx="795528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9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[3] NETWORK DOMAIN</a:t>
            </a:r>
          </a:p>
        </p:txBody>
      </p:sp>
      <p:sp>
        <p:nvSpPr>
          <p:cNvPr id="601" name="Shape 20"/>
          <p:cNvSpPr/>
          <p:nvPr/>
        </p:nvSpPr>
        <p:spPr>
          <a:xfrm>
            <a:off x="6192386" y="3543759"/>
            <a:ext cx="4640118" cy="2710383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2" name="Shape 21"/>
          <p:cNvSpPr/>
          <p:nvPr/>
        </p:nvSpPr>
        <p:spPr>
          <a:xfrm>
            <a:off x="6192386" y="3543759"/>
            <a:ext cx="4640118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3" name="Shape 22"/>
          <p:cNvSpPr/>
          <p:nvPr/>
        </p:nvSpPr>
        <p:spPr>
          <a:xfrm>
            <a:off x="5229958" y="3580057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4" name="Shape 23"/>
          <p:cNvSpPr/>
          <p:nvPr/>
        </p:nvSpPr>
        <p:spPr>
          <a:xfrm>
            <a:off x="5321398" y="3580057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5" name="Shape 24"/>
          <p:cNvSpPr/>
          <p:nvPr/>
        </p:nvSpPr>
        <p:spPr>
          <a:xfrm>
            <a:off x="5412838" y="3580057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6" name="Text 25"/>
          <p:cNvSpPr txBox="1"/>
          <p:nvPr/>
        </p:nvSpPr>
        <p:spPr>
          <a:xfrm>
            <a:off x="6364851" y="3787759"/>
            <a:ext cx="4466089" cy="2222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You are a Senior Network Engineer. AWS VPC connectivity specialist.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CONTEXT: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Changed:     {{network_component}}  (route_table, NACL, peering)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Traffic:     {{affected_services}}  (services using this route)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Flow Logs:   {{anomaly_detected}}   (yes/no)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TASK: Restore desired routing state with traffic-awareness.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SAFETY CONSTRAINTS: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If route serves ACTIVE production traffic → FLAG for human review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Never silently drop routes for critical services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Validate peering/VPN connectivity before route changes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OUTPUT: HCL patch + traffic impact assessment + rollback plan.</a:t>
            </a:r>
          </a:p>
        </p:txBody>
      </p:sp>
      <p:sp>
        <p:nvSpPr>
          <p:cNvPr id="607" name="Text 18"/>
          <p:cNvSpPr txBox="1"/>
          <p:nvPr/>
        </p:nvSpPr>
        <p:spPr>
          <a:xfrm>
            <a:off x="614886" y="3786646"/>
            <a:ext cx="5003140" cy="2353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You are a Senior Security Engineer. CIS AWS Benchmark specialist.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CONTEXT: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Violations:      {{policy_violations}}  (e.g., CIS 5.2: SSH open to internet)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Blast Radius:    {{affected_resources}} (downstream EC2, RDS, EFS)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Risk Score:      {{risk_score}}         (0.0 - 1.0)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Actor:           {{cloudtrail_user}}    (who made the change)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TASK: Generate minimal security fix addressing ONLY violations.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HARD CONSTRAINTS: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[NEVER] Broaden CIDR ranges (security regression)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[NEVER] Open additional ports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[NEVER] Weaken encryption settings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[ALWAYS] Preserve compliant rules unchanged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OUTPUT: HCL patch + brief security justification (2 lines max).</a:t>
            </a:r>
          </a:p>
        </p:txBody>
      </p:sp>
      <p:sp>
        <p:nvSpPr>
          <p:cNvPr id="608" name="Text 11"/>
          <p:cNvSpPr txBox="1"/>
          <p:nvPr/>
        </p:nvSpPr>
        <p:spPr>
          <a:xfrm>
            <a:off x="6303147" y="825088"/>
            <a:ext cx="4589495" cy="2222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ROLE: You are a Senior Platform Engineer specializing in Terraform IaC.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CONTEXT: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Resource:    {{resource_type}}     (e.g., aws_security_group)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Drifted:     {{fields}}            (e.g., cidr_blocks, description)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Desired:     {{desired_value}}     (from Terraform state)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Environment: {{environment}}       (prod/staging/dev)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TASK: Generate ONLY the minimal HCL patch to restore desired state.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CONSTRAINTS: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Modify ONLY the drifted attributes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Preserve all other existing configurations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Use exact syntax from Terraform {{provider_version}}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OUTPUT FORMAT: Raw HCL block. No markdown. No explanations.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1" name="Text 0"/>
          <p:cNvSpPr txBox="1"/>
          <p:nvPr/>
        </p:nvSpPr>
        <p:spPr>
          <a:xfrm>
            <a:off x="1058814" y="327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╔═══════════════╗</a:t>
            </a:r>
          </a:p>
        </p:txBody>
      </p:sp>
      <p:sp>
        <p:nvSpPr>
          <p:cNvPr id="612" name="Text 1"/>
          <p:cNvSpPr txBox="1"/>
          <p:nvPr/>
        </p:nvSpPr>
        <p:spPr>
          <a:xfrm>
            <a:off x="1058814" y="207748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SELF-HEALING PR</a:t>
            </a:r>
          </a:p>
        </p:txBody>
      </p:sp>
      <p:sp>
        <p:nvSpPr>
          <p:cNvPr id="613" name="Text 2"/>
          <p:cNvSpPr txBox="1"/>
          <p:nvPr/>
        </p:nvSpPr>
        <p:spPr>
          <a:xfrm>
            <a:off x="1058814" y="551918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╚═══════════════╝</a:t>
            </a:r>
          </a:p>
        </p:txBody>
      </p:sp>
      <p:sp>
        <p:nvSpPr>
          <p:cNvPr id="614" name="Text 4"/>
          <p:cNvSpPr txBox="1"/>
          <p:nvPr/>
        </p:nvSpPr>
        <p:spPr>
          <a:xfrm>
            <a:off x="9161689" y="825040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gh pr view 1337</a:t>
            </a:r>
          </a:p>
        </p:txBody>
      </p:sp>
      <p:sp>
        <p:nvSpPr>
          <p:cNvPr id="615" name="Shape 5"/>
          <p:cNvSpPr/>
          <p:nvPr/>
        </p:nvSpPr>
        <p:spPr>
          <a:xfrm>
            <a:off x="1120599" y="891080"/>
            <a:ext cx="7863841" cy="5719152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Shape 7"/>
          <p:cNvSpPr/>
          <p:nvPr/>
        </p:nvSpPr>
        <p:spPr>
          <a:xfrm>
            <a:off x="610424" y="946222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Shape 8"/>
          <p:cNvSpPr/>
          <p:nvPr/>
        </p:nvSpPr>
        <p:spPr>
          <a:xfrm>
            <a:off x="701864" y="946222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8" name="Shape 9"/>
          <p:cNvSpPr/>
          <p:nvPr/>
        </p:nvSpPr>
        <p:spPr>
          <a:xfrm>
            <a:off x="1349199" y="936800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9" name="Text 10"/>
          <p:cNvSpPr txBox="1"/>
          <p:nvPr/>
        </p:nvSpPr>
        <p:spPr>
          <a:xfrm>
            <a:off x="1251409" y="990602"/>
            <a:ext cx="7498080" cy="55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[PULL REQUEST] #1337: [DRIFT:CRITICAL] Revert sg-0abc123 SSH exposure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drift-remediation-bot opened 8 minutes ago  ·  [AWAITING] secops/approved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[RISK ASSESSMENT]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Severity:   CRITICAL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Risk Score: 0.87 / 1.0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Tier:       Tier 3 (requires security approval)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Environment: production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[ROOT CAUSE ANALYSIS]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Actor:      john.smith (arn:aws:iam::123456789012:user/john.smith)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Action:     AuthorizeSecurityGroupIngress via AWS Console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Timestamp:  2024-03-15 14:19:44 UTC (external IP: 203.0.113.42)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Intent:     Temporary debug access (no ticket found)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Reasoning:  Developer opened SSH to internet for debugging. Not reverted.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[BLAST RADIUS]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Direct Impact:   2 EC2 instances (i-0a1b2c3d, i-0e5f6g7h)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Indirect Impact: 1 RDS primary, 1 EFS mount (reachable via exposed EC2)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Total Resources: 4 at risk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[PROPOSED FIX]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Files Changed: 1 file  +2 -2 lines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--- a/terraform/security_groups.tf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+++ b/terraform/security_groups.tf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@@ -12,8 +12,8 @@ resource "aws_security_group" "api_server_sg" {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ingress {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from_port   = 22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to_port     = 22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   cidr_blocks = ["0.0.0.0/0"]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   description = ""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+    cidr_blocks = ["10.0.0.0/8"]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+    description = "Internal SSH only"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}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[VALIDATION RESULTS]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  terraform validate   PASSED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  terraform plan       PASSED (0 destructive changes)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[OK]   Checker Agent        APPROVED (no destructive operations)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[WAIT] OPA policy gate      BLOCKED (requires secops/approved label)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[POLICY VIOLATIONS FIXED]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CIS AWS Benchmark §5.2: SSH (port 22) should not be open to 0.0.0.0/0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Internal Policy: Security groups must have descriptions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[REQUIRED ACTIONS]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 ] SecOps: Add label 'secops/approved' to unblock CI/CD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 ] Confirm john.smith debug session is complete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 ] Consider creating bastion host for future debug access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[METADATA]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Circuit Breaker: 1/3 attempts used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Generated By:    drift-agent v1.2.0 (Azure o3-mini)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CODEOWNERS:      @org/secops-team (auto-assigned)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Auto-merge:      DISABLED (security domain + prod + risk &gt; 0.3)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2" name="Text 0"/>
          <p:cNvSpPr txBox="1"/>
          <p:nvPr/>
        </p:nvSpPr>
        <p:spPr>
          <a:xfrm>
            <a:off x="1039971" y="22121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╔═════════════════════╗</a:t>
            </a:r>
          </a:p>
        </p:txBody>
      </p:sp>
      <p:sp>
        <p:nvSpPr>
          <p:cNvPr id="623" name="Text 1"/>
          <p:cNvSpPr txBox="1"/>
          <p:nvPr/>
        </p:nvSpPr>
        <p:spPr>
          <a:xfrm>
            <a:off x="1039971" y="226591"/>
            <a:ext cx="81381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REAL FEAR + THE REFRAME</a:t>
            </a:r>
          </a:p>
        </p:txBody>
      </p:sp>
      <p:sp>
        <p:nvSpPr>
          <p:cNvPr id="624" name="Text 2"/>
          <p:cNvSpPr txBox="1"/>
          <p:nvPr/>
        </p:nvSpPr>
        <p:spPr>
          <a:xfrm>
            <a:off x="1039971" y="570761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╚═════════════════════╝</a:t>
            </a:r>
          </a:p>
        </p:txBody>
      </p:sp>
      <p:sp>
        <p:nvSpPr>
          <p:cNvPr id="625" name="Text 3"/>
          <p:cNvSpPr txBox="1"/>
          <p:nvPr/>
        </p:nvSpPr>
        <p:spPr>
          <a:xfrm>
            <a:off x="857090" y="6428001"/>
            <a:ext cx="1280162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5/7]</a:t>
            </a:r>
          </a:p>
        </p:txBody>
      </p:sp>
      <p:sp>
        <p:nvSpPr>
          <p:cNvPr id="626" name="Text 4"/>
          <p:cNvSpPr txBox="1"/>
          <p:nvPr/>
        </p:nvSpPr>
        <p:spPr>
          <a:xfrm>
            <a:off x="1039971" y="833175"/>
            <a:ext cx="81381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"Will the AI delete my database?"</a:t>
            </a:r>
          </a:p>
        </p:txBody>
      </p:sp>
      <p:sp>
        <p:nvSpPr>
          <p:cNvPr id="627" name="Shape 5"/>
          <p:cNvSpPr/>
          <p:nvPr/>
        </p:nvSpPr>
        <p:spPr>
          <a:xfrm>
            <a:off x="1085691" y="1235289"/>
            <a:ext cx="3840481" cy="237744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8" name="Shape 6"/>
          <p:cNvSpPr/>
          <p:nvPr/>
        </p:nvSpPr>
        <p:spPr>
          <a:xfrm>
            <a:off x="1085691" y="1235289"/>
            <a:ext cx="384048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9" name="Shape 7"/>
          <p:cNvSpPr/>
          <p:nvPr/>
        </p:nvSpPr>
        <p:spPr>
          <a:xfrm>
            <a:off x="113141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0" name="Shape 8"/>
          <p:cNvSpPr/>
          <p:nvPr/>
        </p:nvSpPr>
        <p:spPr>
          <a:xfrm>
            <a:off x="122285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1" name="Shape 9"/>
          <p:cNvSpPr/>
          <p:nvPr/>
        </p:nvSpPr>
        <p:spPr>
          <a:xfrm>
            <a:off x="131429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2" name="Text 10"/>
          <p:cNvSpPr txBox="1"/>
          <p:nvPr/>
        </p:nvSpPr>
        <p:spPr>
          <a:xfrm>
            <a:off x="1131411" y="1202269"/>
            <a:ext cx="374904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[THE FEARS (All Valid)]</a:t>
            </a:r>
          </a:p>
        </p:txBody>
      </p:sp>
      <p:sp>
        <p:nvSpPr>
          <p:cNvPr id="633" name="Text 11"/>
          <p:cNvSpPr txBox="1"/>
          <p:nvPr/>
        </p:nvSpPr>
        <p:spPr>
          <a:xfrm>
            <a:off x="1268571" y="1930931"/>
            <a:ext cx="3474720" cy="1303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reverts a hotfix mid-incident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generates a cascade-triggering patch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auto-merges something subtly destructive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confused by complex state dependencies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outpaces a human's ability to react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creates compliance violation while fixing one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manipulated via prompt injection through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resource names or tag values</a:t>
            </a:r>
          </a:p>
        </p:txBody>
      </p:sp>
      <p:sp>
        <p:nvSpPr>
          <p:cNvPr id="634" name="Shape 12"/>
          <p:cNvSpPr/>
          <p:nvPr/>
        </p:nvSpPr>
        <p:spPr>
          <a:xfrm>
            <a:off x="5109051" y="1235289"/>
            <a:ext cx="4023360" cy="237744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5" name="Shape 13"/>
          <p:cNvSpPr/>
          <p:nvPr/>
        </p:nvSpPr>
        <p:spPr>
          <a:xfrm>
            <a:off x="5109051" y="1235289"/>
            <a:ext cx="4023360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Shape 14"/>
          <p:cNvSpPr/>
          <p:nvPr/>
        </p:nvSpPr>
        <p:spPr>
          <a:xfrm>
            <a:off x="515477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7" name="Shape 15"/>
          <p:cNvSpPr/>
          <p:nvPr/>
        </p:nvSpPr>
        <p:spPr>
          <a:xfrm>
            <a:off x="524621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8" name="Shape 16"/>
          <p:cNvSpPr/>
          <p:nvPr/>
        </p:nvSpPr>
        <p:spPr>
          <a:xfrm>
            <a:off x="533765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9" name="Text 17"/>
          <p:cNvSpPr txBox="1"/>
          <p:nvPr/>
        </p:nvSpPr>
        <p:spPr>
          <a:xfrm>
            <a:off x="5154771" y="1214969"/>
            <a:ext cx="393192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[THE REFRAME]</a:t>
            </a:r>
          </a:p>
        </p:txBody>
      </p:sp>
      <p:sp>
        <p:nvSpPr>
          <p:cNvPr id="640" name="Text 18"/>
          <p:cNvSpPr txBox="1"/>
          <p:nvPr/>
        </p:nvSpPr>
        <p:spPr>
          <a:xfrm>
            <a:off x="5291931" y="1457876"/>
            <a:ext cx="3657601" cy="2115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TREAT THE AGENT AS A MACHINE IDENTITY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Not magic. Not autonomous. Not trusted by default.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 service account that writes code.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Apply the same controls as any CI/CD bot: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IAM — AGENT SERVICE ROLE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cloudtrail:LookupEvents           [OK]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s3:GetObject (state bucket)       [OK]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opa:Evaluate                      [OK]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github:CreatePullRequest          [OK]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─────────────────────────────────────────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ec2:AuthorizeSecurityGroupIngress [DENY] NEVER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iam:AttachRolePolicy              [DENY] NEVER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Any resource mutation API         [DENY] NEVER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terraform apply                   [DENY] NEVER</a:t>
            </a:r>
          </a:p>
        </p:txBody>
      </p:sp>
      <p:sp>
        <p:nvSpPr>
          <p:cNvPr id="641" name="Shape 19"/>
          <p:cNvSpPr/>
          <p:nvPr/>
        </p:nvSpPr>
        <p:spPr>
          <a:xfrm>
            <a:off x="1085691" y="3795609"/>
            <a:ext cx="8046720" cy="2286001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2" name="Text 20"/>
          <p:cNvSpPr txBox="1"/>
          <p:nvPr/>
        </p:nvSpPr>
        <p:spPr>
          <a:xfrm>
            <a:off x="1268571" y="3881378"/>
            <a:ext cx="7680961" cy="2114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[THE QUESTION SHIFT]</a:t>
            </a:r>
          </a:p>
          <a:p>
            <a:pPr defTabSz="914400">
              <a:lnSpc>
                <a:spcPct val="12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[WRONG]  "Can I trust the AI?"</a:t>
            </a:r>
          </a:p>
          <a:p>
            <a:pPr defTabSz="914400">
              <a:lnSpc>
                <a:spcPct val="12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[RIGHT]  "Have I governed this service account correctly?"</a:t>
            </a:r>
          </a:p>
          <a:p>
            <a:pPr defTabSz="914400">
              <a:lnSpc>
                <a:spcPct val="12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That's an engineering problem. We know how to solve it.</a:t>
            </a:r>
          </a:p>
          <a:p>
            <a:pPr defTabSz="914400">
              <a:lnSpc>
                <a:spcPct val="12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Every action: logged, attributable, auditable.</a:t>
            </a: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All changes: through the same GitOps pipeline as any human engineer.</a:t>
            </a:r>
          </a:p>
          <a:p>
            <a:pPr defTabSz="914400">
              <a:lnSpc>
                <a:spcPct val="12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Once you accept this framing, governance becomes a familiar problem:</a:t>
            </a: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what are the right constraints for this service account,</a:t>
            </a: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and how do I enforce them declaratively? OPA is the answer.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5" name="Text 0"/>
          <p:cNvSpPr txBox="1"/>
          <p:nvPr/>
        </p:nvSpPr>
        <p:spPr>
          <a:xfrm>
            <a:off x="1039971" y="22121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╔═════════════════════╗</a:t>
            </a:r>
          </a:p>
        </p:txBody>
      </p:sp>
      <p:sp>
        <p:nvSpPr>
          <p:cNvPr id="646" name="Text 1"/>
          <p:cNvSpPr txBox="1"/>
          <p:nvPr/>
        </p:nvSpPr>
        <p:spPr>
          <a:xfrm>
            <a:off x="1039971" y="226591"/>
            <a:ext cx="81381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REAL FEAR + THE REFRAME</a:t>
            </a:r>
          </a:p>
        </p:txBody>
      </p:sp>
      <p:sp>
        <p:nvSpPr>
          <p:cNvPr id="647" name="Text 2"/>
          <p:cNvSpPr txBox="1"/>
          <p:nvPr/>
        </p:nvSpPr>
        <p:spPr>
          <a:xfrm>
            <a:off x="1039971" y="570761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╚═════════════════════╝</a:t>
            </a:r>
          </a:p>
        </p:txBody>
      </p:sp>
      <p:sp>
        <p:nvSpPr>
          <p:cNvPr id="648" name="Text 3"/>
          <p:cNvSpPr txBox="1"/>
          <p:nvPr/>
        </p:nvSpPr>
        <p:spPr>
          <a:xfrm>
            <a:off x="857090" y="6428001"/>
            <a:ext cx="1280162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5/7]</a:t>
            </a:r>
          </a:p>
        </p:txBody>
      </p:sp>
      <p:sp>
        <p:nvSpPr>
          <p:cNvPr id="649" name="Text 4"/>
          <p:cNvSpPr txBox="1"/>
          <p:nvPr/>
        </p:nvSpPr>
        <p:spPr>
          <a:xfrm>
            <a:off x="1039971" y="833175"/>
            <a:ext cx="81381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"Will the AI delete my database?"</a:t>
            </a:r>
          </a:p>
        </p:txBody>
      </p:sp>
      <p:sp>
        <p:nvSpPr>
          <p:cNvPr id="650" name="Shape 5"/>
          <p:cNvSpPr/>
          <p:nvPr/>
        </p:nvSpPr>
        <p:spPr>
          <a:xfrm>
            <a:off x="1085691" y="1235289"/>
            <a:ext cx="3840481" cy="2377441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1" name="Shape 6"/>
          <p:cNvSpPr/>
          <p:nvPr/>
        </p:nvSpPr>
        <p:spPr>
          <a:xfrm>
            <a:off x="1085691" y="1235289"/>
            <a:ext cx="384048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Shape 7"/>
          <p:cNvSpPr/>
          <p:nvPr/>
        </p:nvSpPr>
        <p:spPr>
          <a:xfrm>
            <a:off x="113141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3" name="Shape 8"/>
          <p:cNvSpPr/>
          <p:nvPr/>
        </p:nvSpPr>
        <p:spPr>
          <a:xfrm>
            <a:off x="122285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4" name="Shape 9"/>
          <p:cNvSpPr/>
          <p:nvPr/>
        </p:nvSpPr>
        <p:spPr>
          <a:xfrm>
            <a:off x="131429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5" name="Text 10"/>
          <p:cNvSpPr txBox="1"/>
          <p:nvPr/>
        </p:nvSpPr>
        <p:spPr>
          <a:xfrm>
            <a:off x="1131411" y="1202269"/>
            <a:ext cx="374904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[THE FEARS (All Valid)]</a:t>
            </a:r>
          </a:p>
        </p:txBody>
      </p:sp>
      <p:sp>
        <p:nvSpPr>
          <p:cNvPr id="656" name="Text 11"/>
          <p:cNvSpPr txBox="1"/>
          <p:nvPr/>
        </p:nvSpPr>
        <p:spPr>
          <a:xfrm>
            <a:off x="1268571" y="1930931"/>
            <a:ext cx="3474720" cy="1303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reverts a hotfix mid-incident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generates a cascade-triggering patch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auto-merges something subtly destructive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confused by complex state dependencies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outpaces a human's ability to react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creates compliance violation while fixing one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Agent manipulated via prompt injection through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resource names or tag values</a:t>
            </a:r>
          </a:p>
        </p:txBody>
      </p:sp>
      <p:sp>
        <p:nvSpPr>
          <p:cNvPr id="657" name="Shape 12"/>
          <p:cNvSpPr/>
          <p:nvPr/>
        </p:nvSpPr>
        <p:spPr>
          <a:xfrm>
            <a:off x="5109051" y="1235289"/>
            <a:ext cx="4023360" cy="4695906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Shape 13"/>
          <p:cNvSpPr/>
          <p:nvPr/>
        </p:nvSpPr>
        <p:spPr>
          <a:xfrm>
            <a:off x="5109051" y="1235289"/>
            <a:ext cx="4023360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9" name="Shape 14"/>
          <p:cNvSpPr/>
          <p:nvPr/>
        </p:nvSpPr>
        <p:spPr>
          <a:xfrm>
            <a:off x="515477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0" name="Shape 15"/>
          <p:cNvSpPr/>
          <p:nvPr/>
        </p:nvSpPr>
        <p:spPr>
          <a:xfrm>
            <a:off x="524621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1" name="Shape 16"/>
          <p:cNvSpPr/>
          <p:nvPr/>
        </p:nvSpPr>
        <p:spPr>
          <a:xfrm>
            <a:off x="5337651" y="128100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2" name="Text 17"/>
          <p:cNvSpPr txBox="1"/>
          <p:nvPr/>
        </p:nvSpPr>
        <p:spPr>
          <a:xfrm>
            <a:off x="5154771" y="1214969"/>
            <a:ext cx="393192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[THE REFRAME]</a:t>
            </a:r>
          </a:p>
        </p:txBody>
      </p:sp>
      <p:sp>
        <p:nvSpPr>
          <p:cNvPr id="663" name="Text 18"/>
          <p:cNvSpPr txBox="1"/>
          <p:nvPr/>
        </p:nvSpPr>
        <p:spPr>
          <a:xfrm>
            <a:off x="5291930" y="1553583"/>
            <a:ext cx="3657601" cy="446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Fear 1: Reverts hotfix mid-incident</a:t>
            </a:r>
            <a:br>
              <a:rPr b="0"/>
            </a:br>
            <a:r>
              <a:rPr b="0"/>
              <a:t>Solution: active_incident flag blocks remediation</a:t>
            </a:r>
            <a:br>
              <a:rPr b="0"/>
            </a:br>
            <a:r>
              <a:rPr b="0"/>
              <a:t>Engineering control, not trust</a:t>
            </a:r>
          </a:p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Fear 2: Cascade-triggering patch</a:t>
            </a:r>
            <a:br>
              <a:rPr b="0"/>
            </a:br>
            <a:r>
              <a:rPr b="0"/>
              <a:t>Solution: terraform plan shows destructive changes</a:t>
            </a:r>
            <a:br>
              <a:rPr b="0"/>
            </a:br>
            <a:r>
              <a:rPr b="0"/>
              <a:t>Validation blocks it</a:t>
            </a:r>
          </a:p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Fear 3: Auto-merges destructive change</a:t>
            </a:r>
            <a:br>
              <a:rPr b="0"/>
            </a:br>
            <a:r>
              <a:rPr b="0"/>
              <a:t>Solution: OPA policies gate auto-merge</a:t>
            </a:r>
            <a:br>
              <a:rPr b="0"/>
            </a:br>
            <a:r>
              <a:rPr b="0"/>
              <a:t>Critical resources require review</a:t>
            </a:r>
          </a:p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Fear 4: Confused by complex state</a:t>
            </a:r>
            <a:br>
              <a:rPr b="0"/>
            </a:br>
            <a:r>
              <a:rPr b="0"/>
              <a:t>Solution: Validation loop catches errors</a:t>
            </a:r>
            <a:br>
              <a:rPr b="0"/>
            </a:br>
            <a:r>
              <a:rPr b="0"/>
              <a:t>Escalates to human after 3 attempts</a:t>
            </a:r>
          </a:p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Fear 5: Outpaces human reaction</a:t>
            </a:r>
            <a:br>
              <a:rPr b="0"/>
            </a:br>
            <a:r>
              <a:rPr b="0"/>
              <a:t>Solution: Circuit breaker limits rate</a:t>
            </a:r>
            <a:br>
              <a:rPr b="0"/>
            </a:br>
            <a:r>
              <a:rPr b="0"/>
              <a:t>Max 3 remediations per hour per resource</a:t>
            </a:r>
          </a:p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Fear 6: Creates new compliance violation</a:t>
            </a:r>
            <a:br>
              <a:rPr b="0"/>
            </a:br>
            <a:r>
              <a:rPr b="0"/>
              <a:t>Solution: OPA evaluates against all policies</a:t>
            </a:r>
            <a:br>
              <a:rPr b="0"/>
            </a:br>
            <a:r>
              <a:rPr b="0"/>
              <a:t>Multi-policy validation</a:t>
            </a:r>
          </a:p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Fear 7: Prompt injection</a:t>
            </a:r>
            <a:br>
              <a:rPr b="0"/>
            </a:br>
            <a:r>
              <a:rPr b="0"/>
              <a:t>Solution: Structured data input</a:t>
            </a:r>
            <a:br>
              <a:rPr b="0"/>
            </a:br>
            <a:r>
              <a:rPr b="0"/>
              <a:t>Constrained output</a:t>
            </a:r>
            <a:br>
              <a:rPr b="0"/>
            </a:br>
            <a:r>
              <a:rPr b="0"/>
              <a:t>Validation catches malformed code</a:t>
            </a:r>
          </a:p>
          <a:p>
            <a:pPr>
              <a:spcBef>
                <a:spcPts val="1600"/>
              </a:spcBef>
              <a:defRPr b="1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Every fear has an engineering mitigation.</a:t>
            </a:r>
            <a:endParaRPr b="0"/>
          </a:p>
        </p:txBody>
      </p:sp>
      <p:sp>
        <p:nvSpPr>
          <p:cNvPr id="666" name="Connection Line"/>
          <p:cNvSpPr/>
          <p:nvPr/>
        </p:nvSpPr>
        <p:spPr>
          <a:xfrm>
            <a:off x="3912009" y="3778385"/>
            <a:ext cx="1006476" cy="1023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934" h="19192" fill="norm" stroke="1" extrusionOk="0">
                <a:moveTo>
                  <a:pt x="18934" y="18343"/>
                </a:moveTo>
                <a:cubicBezTo>
                  <a:pt x="3282" y="21600"/>
                  <a:pt x="-2666" y="15486"/>
                  <a:pt x="1091" y="0"/>
                </a:cubicBezTo>
              </a:path>
            </a:pathLst>
          </a:custGeom>
          <a:ln w="12700">
            <a:solidFill>
              <a:schemeClr val="accent1"/>
            </a:solidFill>
            <a:miter/>
          </a:ln>
        </p:spPr>
        <p:txBody>
          <a:bodyPr/>
          <a:lstStyle/>
          <a:p>
            <a:pPr/>
          </a:p>
        </p:txBody>
      </p:sp>
      <p:sp>
        <p:nvSpPr>
          <p:cNvPr id="665" name="&quot;Once you accept this framing, governance becomes a familiar problem: what are the right constraints for this service account, and how do I enforce them declaratively? OPA is the answer.&quot;"/>
          <p:cNvSpPr txBox="1"/>
          <p:nvPr/>
        </p:nvSpPr>
        <p:spPr>
          <a:xfrm>
            <a:off x="925084" y="5362740"/>
            <a:ext cx="3961717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C5C5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"Once you accept this framing, governance becomes a familiar problem: what are the right constraints for this service account, and how do I enforce them declaratively? OPA is the answer."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9" name="Text 0"/>
          <p:cNvSpPr txBox="1"/>
          <p:nvPr/>
        </p:nvSpPr>
        <p:spPr>
          <a:xfrm>
            <a:off x="1068236" y="22121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╔═════════════════╗</a:t>
            </a:r>
          </a:p>
        </p:txBody>
      </p:sp>
      <p:sp>
        <p:nvSpPr>
          <p:cNvPr id="670" name="Text 1"/>
          <p:cNvSpPr txBox="1"/>
          <p:nvPr/>
        </p:nvSpPr>
        <p:spPr>
          <a:xfrm>
            <a:off x="1068236" y="226591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OPA GUARDRAILS: 3-TIER</a:t>
            </a:r>
          </a:p>
        </p:txBody>
      </p:sp>
      <p:sp>
        <p:nvSpPr>
          <p:cNvPr id="671" name="Text 2"/>
          <p:cNvSpPr txBox="1"/>
          <p:nvPr/>
        </p:nvSpPr>
        <p:spPr>
          <a:xfrm>
            <a:off x="1068236" y="570761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╚═════════════════╝</a:t>
            </a:r>
          </a:p>
        </p:txBody>
      </p:sp>
      <p:sp>
        <p:nvSpPr>
          <p:cNvPr id="672" name="Text 3"/>
          <p:cNvSpPr txBox="1"/>
          <p:nvPr/>
        </p:nvSpPr>
        <p:spPr>
          <a:xfrm>
            <a:off x="885356" y="6428001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5/7]</a:t>
            </a:r>
          </a:p>
        </p:txBody>
      </p:sp>
      <p:sp>
        <p:nvSpPr>
          <p:cNvPr id="673" name="Text 4"/>
          <p:cNvSpPr txBox="1"/>
          <p:nvPr/>
        </p:nvSpPr>
        <p:spPr>
          <a:xfrm>
            <a:off x="9142845" y="1763828"/>
            <a:ext cx="81381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cat code/policies/*.rego  </a:t>
            </a:r>
          </a:p>
          <a:p>
            <a:pPr defTabSz="914400">
              <a:defRPr sz="12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3 tiers combined</a:t>
            </a:r>
          </a:p>
        </p:txBody>
      </p:sp>
      <p:sp>
        <p:nvSpPr>
          <p:cNvPr id="674" name="Shape 5"/>
          <p:cNvSpPr/>
          <p:nvPr/>
        </p:nvSpPr>
        <p:spPr>
          <a:xfrm>
            <a:off x="1142721" y="909924"/>
            <a:ext cx="7863841" cy="5473556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5" name="Shape 6"/>
          <p:cNvSpPr/>
          <p:nvPr/>
        </p:nvSpPr>
        <p:spPr>
          <a:xfrm>
            <a:off x="1142721" y="909924"/>
            <a:ext cx="7863841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6" name="Shape 7"/>
          <p:cNvSpPr/>
          <p:nvPr/>
        </p:nvSpPr>
        <p:spPr>
          <a:xfrm>
            <a:off x="623124" y="946222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7" name="Shape 8"/>
          <p:cNvSpPr/>
          <p:nvPr/>
        </p:nvSpPr>
        <p:spPr>
          <a:xfrm>
            <a:off x="1279881" y="955644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8" name="Shape 9"/>
          <p:cNvSpPr/>
          <p:nvPr/>
        </p:nvSpPr>
        <p:spPr>
          <a:xfrm>
            <a:off x="1371321" y="955644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9" name="Text 10"/>
          <p:cNvSpPr txBox="1"/>
          <p:nvPr/>
        </p:nvSpPr>
        <p:spPr>
          <a:xfrm>
            <a:off x="1246948" y="1119401"/>
            <a:ext cx="7498079" cy="5223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TIER 1: AUTO-MERGE (~40% volume)  [code/policies/tier1.rego]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default auto_approve = false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auto_approve {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input.risk_score &lt; </a:t>
            </a:r>
            <a:r>
              <a:rPr>
                <a:solidFill>
                  <a:schemeClr val="accent3"/>
                </a:solidFill>
              </a:rPr>
              <a:t>0.3 </a:t>
            </a:r>
            <a:r>
              <a:t>                           # Threshold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not critical_resource_types[input.resource_type]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not input.active_incident  # ← THE HOTFIX GUARD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tag_only_change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TIER 2 &amp; 3: DENY RULES (Hard blocks)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deny[msg] {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input.</a:t>
            </a:r>
            <a:r>
              <a:rPr>
                <a:solidFill>
                  <a:schemeClr val="accent4"/>
                </a:solidFill>
              </a:rPr>
              <a:t>active_incident</a:t>
            </a:r>
            <a:r>
              <a:t> == true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not input.pr_labels["incident/override"]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msg := "</a:t>
            </a:r>
            <a:r>
              <a:rPr>
                <a:solidFill>
                  <a:schemeClr val="accent6"/>
                </a:solidFill>
              </a:rPr>
              <a:t>BLOCK</a:t>
            </a:r>
            <a:r>
              <a:t>: Active incident. Prevents hotfix reversal."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deny[msg] {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input.has_destructive_changes == true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msg := "</a:t>
            </a:r>
            <a:r>
              <a:rPr>
                <a:solidFill>
                  <a:schemeClr val="accent6"/>
                </a:solidFill>
              </a:rPr>
              <a:t>BLOCK</a:t>
            </a:r>
            <a:r>
              <a:t>: Destructive changes never auto-approved."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deny[msg] {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critical_resource_types[input.resource_type]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not input.pr_labels["drift/approved"]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msg := sprintf("</a:t>
            </a:r>
            <a:r>
              <a:rPr>
                <a:solidFill>
                  <a:schemeClr val="accent6"/>
                </a:solidFill>
              </a:rPr>
              <a:t>BLOCK</a:t>
            </a:r>
            <a:r>
              <a:t>: '%v' requires approval", [input.resource_type])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deny[msg] {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input.domain == "security"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not input.pr_labels["secops/approved"]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msg := "</a:t>
            </a:r>
            <a:r>
              <a:rPr>
                <a:solidFill>
                  <a:schemeClr val="accent6"/>
                </a:solidFill>
              </a:rPr>
              <a:t>BLOCK</a:t>
            </a:r>
            <a:r>
              <a:t>: Security domain requires SecOps."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HELPERS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critical_resource_types := {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"aws_db_instance", "aws_iam_role", "aws_kms_key",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"aws_vpc", "aws_secretsmanager_secret"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tag_only_change {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changed_keys := {k | _ = input.diff[k]}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changed_keys == {"tags"}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82" name="Text 0"/>
          <p:cNvSpPr txBox="1"/>
          <p:nvPr/>
        </p:nvSpPr>
        <p:spPr>
          <a:xfrm>
            <a:off x="1143612" y="3154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╔════════════════════╗</a:t>
            </a:r>
          </a:p>
        </p:txBody>
      </p:sp>
      <p:sp>
        <p:nvSpPr>
          <p:cNvPr id="683" name="Text 1"/>
          <p:cNvSpPr txBox="1"/>
          <p:nvPr/>
        </p:nvSpPr>
        <p:spPr>
          <a:xfrm>
            <a:off x="1143612" y="236013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WHY active_incident EXISTS</a:t>
            </a:r>
          </a:p>
        </p:txBody>
      </p:sp>
      <p:sp>
        <p:nvSpPr>
          <p:cNvPr id="684" name="Text 2"/>
          <p:cNvSpPr txBox="1"/>
          <p:nvPr/>
        </p:nvSpPr>
        <p:spPr>
          <a:xfrm>
            <a:off x="1143612" y="58018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╚════════════════════╝</a:t>
            </a:r>
          </a:p>
        </p:txBody>
      </p:sp>
      <p:sp>
        <p:nvSpPr>
          <p:cNvPr id="685" name="Text 3"/>
          <p:cNvSpPr txBox="1"/>
          <p:nvPr/>
        </p:nvSpPr>
        <p:spPr>
          <a:xfrm>
            <a:off x="960732" y="6437423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5/7]</a:t>
            </a:r>
          </a:p>
        </p:txBody>
      </p:sp>
      <p:sp>
        <p:nvSpPr>
          <p:cNvPr id="686" name="Text 4"/>
          <p:cNvSpPr txBox="1"/>
          <p:nvPr/>
        </p:nvSpPr>
        <p:spPr>
          <a:xfrm>
            <a:off x="1143612" y="912923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Having the field in the schema ≠ Having the integration to populate</a:t>
            </a:r>
          </a:p>
        </p:txBody>
      </p:sp>
      <p:sp>
        <p:nvSpPr>
          <p:cNvPr id="687" name="Shape 5"/>
          <p:cNvSpPr/>
          <p:nvPr/>
        </p:nvSpPr>
        <p:spPr>
          <a:xfrm>
            <a:off x="1280772" y="1390443"/>
            <a:ext cx="7863841" cy="5041457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8" name="Shape 6"/>
          <p:cNvSpPr/>
          <p:nvPr/>
        </p:nvSpPr>
        <p:spPr>
          <a:xfrm>
            <a:off x="1280772" y="1390443"/>
            <a:ext cx="7863841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9" name="Shape 7"/>
          <p:cNvSpPr/>
          <p:nvPr/>
        </p:nvSpPr>
        <p:spPr>
          <a:xfrm>
            <a:off x="1326492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0" name="Shape 8"/>
          <p:cNvSpPr/>
          <p:nvPr/>
        </p:nvSpPr>
        <p:spPr>
          <a:xfrm>
            <a:off x="1417932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1" name="Shape 9"/>
          <p:cNvSpPr/>
          <p:nvPr/>
        </p:nvSpPr>
        <p:spPr>
          <a:xfrm>
            <a:off x="1509372" y="143616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2" name="Text 10"/>
          <p:cNvSpPr txBox="1"/>
          <p:nvPr/>
        </p:nvSpPr>
        <p:spPr>
          <a:xfrm>
            <a:off x="1463652" y="1658339"/>
            <a:ext cx="7498080" cy="331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PRODUCTION INCIDENT: Hotfix Reversal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</a:t>
            </a:r>
          </a:p>
        </p:txBody>
      </p:sp>
      <p:sp>
        <p:nvSpPr>
          <p:cNvPr id="693" name="Text 11"/>
          <p:cNvSpPr txBox="1"/>
          <p:nvPr/>
        </p:nvSpPr>
        <p:spPr>
          <a:xfrm>
            <a:off x="1463652" y="2043223"/>
            <a:ext cx="7498080" cy="83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5"/>
                </a:solidFill>
              </a:rPr>
              <a:t>[14:02]</a:t>
            </a:r>
            <a:r>
              <a:t> </a:t>
            </a:r>
            <a:r>
              <a:rPr>
                <a:solidFill>
                  <a:srgbClr val="E01114"/>
                </a:solidFill>
              </a:rPr>
              <a:t>[DEGRADED]</a:t>
            </a:r>
            <a:r>
              <a:t> Service P99 latency: 8s (threshold: 200ms)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5"/>
                </a:solidFill>
              </a:rPr>
              <a:t>[14:07]</a:t>
            </a:r>
            <a:r>
              <a:t> [PAGED]    SRE </a:t>
            </a:r>
            <a:r>
              <a:rPr>
                <a:solidFill>
                  <a:schemeClr val="accent4">
                    <a:satOff val="-46309"/>
                    <a:lumOff val="-14352"/>
                  </a:schemeClr>
                </a:solidFill>
              </a:rPr>
              <a:t>anna.kim</a:t>
            </a:r>
            <a:r>
              <a:t> receives P1 alert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5"/>
                </a:solidFill>
              </a:rPr>
              <a:t>[14:11]</a:t>
            </a:r>
            <a:r>
              <a:t> [HOTFIX]   Root cause: RDS connection timeout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Anna applies fix via Console (no time for PR)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Modified: db-prod security group sg-0abc123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5"/>
                </a:solidFill>
              </a:rPr>
              <a:t>[14:14]</a:t>
            </a:r>
            <a:r>
              <a:t> </a:t>
            </a:r>
            <a:r>
              <a:rPr>
                <a:solidFill>
                  <a:schemeClr val="accent3"/>
                </a:solidFill>
              </a:rPr>
              <a:t>[RESOLVED]</a:t>
            </a:r>
            <a:r>
              <a:t> Service healthy - latency back to 95ms</a:t>
            </a:r>
          </a:p>
        </p:txBody>
      </p:sp>
      <p:sp>
        <p:nvSpPr>
          <p:cNvPr id="694" name="Text 15"/>
          <p:cNvSpPr txBox="1"/>
          <p:nvPr/>
        </p:nvSpPr>
        <p:spPr>
          <a:xfrm>
            <a:off x="1463652" y="2931028"/>
            <a:ext cx="7498080" cy="198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━━━━━━━ THEN AUTOMATION FIRES ━━━━━━━━━━━━━━━━</a:t>
            </a:r>
          </a:p>
        </p:txBody>
      </p:sp>
      <p:sp>
        <p:nvSpPr>
          <p:cNvPr id="695" name="Text 16"/>
          <p:cNvSpPr txBox="1"/>
          <p:nvPr/>
        </p:nvSpPr>
        <p:spPr>
          <a:xfrm>
            <a:off x="1463652" y="3135274"/>
            <a:ext cx="7498080" cy="1349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5"/>
                </a:solidFill>
              </a:rPr>
              <a:t>[14:19]</a:t>
            </a:r>
            <a:r>
              <a:t> [DRIFT]    Detection: anna's Console change detected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active_incident: </a:t>
            </a:r>
            <a:r>
              <a:rPr>
                <a:solidFill>
                  <a:schemeClr val="accent1">
                    <a:satOff val="-44253"/>
                    <a:lumOff val="-14705"/>
                  </a:schemeClr>
                </a:solidFill>
              </a:rPr>
              <a:t>NOT SET</a:t>
            </a:r>
            <a:r>
              <a:t> (no PagerDuty integration yet)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OPA risk: </a:t>
            </a:r>
            <a:r>
              <a:rPr>
                <a:solidFill>
                  <a:schemeClr val="accent1"/>
                </a:solidFill>
              </a:rPr>
              <a:t>0.45</a:t>
            </a:r>
            <a:r>
              <a:t> (below 0.5 auto-merge threshold for instance)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Agent generated patch: reverts anna's fix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Atlantis auto-merged | terraform apply executed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chemeClr val="accent5"/>
                </a:solidFill>
              </a:rPr>
              <a:t>[14:23]</a:t>
            </a:r>
            <a:r>
              <a:t> [DEGRADED] SERVICE DEGRADES AGAIN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Anna unaware fix was reverted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Thinks: "I misdiagnosed the problem"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Re-investigates from scratch</a:t>
            </a:r>
          </a:p>
        </p:txBody>
      </p:sp>
      <p:sp>
        <p:nvSpPr>
          <p:cNvPr id="696" name="Text 20"/>
          <p:cNvSpPr txBox="1"/>
          <p:nvPr/>
        </p:nvSpPr>
        <p:spPr>
          <a:xfrm>
            <a:off x="1463652" y="4412923"/>
            <a:ext cx="7498080" cy="1875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━━━━━━━━━━━━━━━━━━━━━━━━━━━━━━━━━━━━━━━━━━━━━━━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[IMPACT] </a:t>
            </a:r>
            <a:r>
              <a:rPr>
                <a:solidFill>
                  <a:srgbClr val="E01D0D"/>
                </a:solidFill>
              </a:rPr>
              <a:t>22 ADDITIONAL MINUTES</a:t>
            </a:r>
            <a:r>
              <a:t> OF P1 DOWNTIME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LESSON: The agent was technically correct.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The SYSTEM was wrong.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Technically correct + operationally blind = P1 extension.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FIXES IMPLEMENTED:</a:t>
            </a:r>
          </a:p>
          <a:p>
            <a:pPr defTabSz="914400">
              <a:lnSpc>
                <a:spcPct val="110000"/>
              </a:lnSpc>
              <a:defRPr sz="800">
                <a:solidFill>
                  <a:schemeClr val="accent4">
                    <a:satOff val="-46309"/>
                    <a:lumOff val="-14352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PagerDuty → EventBridge → sets active_incident flag</a:t>
            </a:r>
          </a:p>
          <a:p>
            <a:pPr defTabSz="914400">
              <a:lnSpc>
                <a:spcPct val="110000"/>
              </a:lnSpc>
              <a:defRPr sz="800">
                <a:solidFill>
                  <a:schemeClr val="accent4">
                    <a:satOff val="-46309"/>
                    <a:lumOff val="-14352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OPA: active_incident now blocks ALL remediation attempts</a:t>
            </a:r>
          </a:p>
          <a:p>
            <a:pPr defTabSz="914400">
              <a:lnSpc>
                <a:spcPct val="110000"/>
              </a:lnSpc>
              <a:defRPr sz="800">
                <a:solidFill>
                  <a:schemeClr val="accent4">
                    <a:satOff val="-46309"/>
                    <a:lumOff val="-14352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Auto-merge threshold lowered: 0.6 → 0.3 (require more reviews)</a:t>
            </a:r>
          </a:p>
          <a:p>
            <a:pPr defTabSz="914400">
              <a:lnSpc>
                <a:spcPct val="110000"/>
              </a:lnSpc>
              <a:defRPr sz="800">
                <a:solidFill>
                  <a:schemeClr val="accent4">
                    <a:satOff val="-46309"/>
                    <a:lumOff val="-14352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incident/override label added as escape hatch</a:t>
            </a:r>
          </a:p>
          <a:p>
            <a:pPr defTabSz="914400">
              <a:lnSpc>
                <a:spcPct val="110000"/>
              </a:lnSpc>
              <a:defRPr sz="800">
                <a:solidFill>
                  <a:schemeClr val="accent4">
                    <a:satOff val="-46309"/>
                    <a:lumOff val="-14352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All Console changes: 2-hour suppression window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99" name="Text 0"/>
          <p:cNvSpPr txBox="1"/>
          <p:nvPr/>
        </p:nvSpPr>
        <p:spPr>
          <a:xfrm>
            <a:off x="1143612" y="3154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╔══════════════════════╗</a:t>
            </a:r>
          </a:p>
        </p:txBody>
      </p:sp>
      <p:sp>
        <p:nvSpPr>
          <p:cNvPr id="700" name="Text 1"/>
          <p:cNvSpPr txBox="1"/>
          <p:nvPr/>
        </p:nvSpPr>
        <p:spPr>
          <a:xfrm>
            <a:off x="1143612" y="236013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CROSS-TEAM APPROVAL WORKFLOW</a:t>
            </a:r>
          </a:p>
        </p:txBody>
      </p:sp>
      <p:sp>
        <p:nvSpPr>
          <p:cNvPr id="701" name="Text 2"/>
          <p:cNvSpPr txBox="1"/>
          <p:nvPr/>
        </p:nvSpPr>
        <p:spPr>
          <a:xfrm>
            <a:off x="1143612" y="580183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╚══════════════════════╝</a:t>
            </a:r>
          </a:p>
        </p:txBody>
      </p:sp>
      <p:sp>
        <p:nvSpPr>
          <p:cNvPr id="702" name="Text 3"/>
          <p:cNvSpPr txBox="1"/>
          <p:nvPr/>
        </p:nvSpPr>
        <p:spPr>
          <a:xfrm>
            <a:off x="960732" y="6437423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5/7]</a:t>
            </a:r>
          </a:p>
        </p:txBody>
      </p:sp>
      <p:sp>
        <p:nvSpPr>
          <p:cNvPr id="703" name="Shape 5"/>
          <p:cNvSpPr/>
          <p:nvPr/>
        </p:nvSpPr>
        <p:spPr>
          <a:xfrm>
            <a:off x="1205396" y="1079293"/>
            <a:ext cx="7863841" cy="5153662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4" name="Shape 6"/>
          <p:cNvSpPr/>
          <p:nvPr/>
        </p:nvSpPr>
        <p:spPr>
          <a:xfrm>
            <a:off x="1205396" y="1079293"/>
            <a:ext cx="7863841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5" name="Shape 7"/>
          <p:cNvSpPr/>
          <p:nvPr/>
        </p:nvSpPr>
        <p:spPr>
          <a:xfrm>
            <a:off x="1251116" y="112501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6" name="Shape 8"/>
          <p:cNvSpPr/>
          <p:nvPr/>
        </p:nvSpPr>
        <p:spPr>
          <a:xfrm>
            <a:off x="1342556" y="112501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7" name="Shape 9"/>
          <p:cNvSpPr/>
          <p:nvPr/>
        </p:nvSpPr>
        <p:spPr>
          <a:xfrm>
            <a:off x="1433996" y="112501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8" name="Text 10"/>
          <p:cNvSpPr txBox="1"/>
          <p:nvPr/>
        </p:nvSpPr>
        <p:spPr>
          <a:xfrm>
            <a:off x="1388277" y="1267482"/>
            <a:ext cx="7498080" cy="4814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[THE FULL FLOW]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Surgeon creates PR + sets domain label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GitHub CI validates (terraform validate, plan, OPA)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Labels set by OPA result (auto-merge / review-required / blocked)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4. CODEOWNERS routes to correct team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5. AUTO-MERGE PATH (if risk &lt; 0.3 in dev):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CI runs terraform apply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Post-apply drift check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Either resolved OR circuit breaker increments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6. OR HUMAN REVIEW PATH (if risk ≥ 0.3 or prod):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Team adds approval label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CI runs terraform plan (again)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Human merges PR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CI runs terraform apply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→ Post-apply verification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[THE REJECTION PATH — CRITICAL FOR LEARNING]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When PR closed without merge: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1. Parse human comment: "intentional deviation — reason"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2. Add resource+attribute to suppression list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3. Log decision to audit trail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4. Future drift on same attribute suppressed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[POST-APPLY LOOP DETECTION]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After terraform apply, recheck drift: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If still drifted → increment circuit breaker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At 3 remediations → page human (loop detection)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Prevents infinite remediation loops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KEY INSIGHT: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You're not building a new approval system. You're using CODEOWNERS,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 labels, branch protection rules, and Atlantis or GitHub Actions —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primitives you already have.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lide Number Placeholder 4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11" name="Text 0"/>
          <p:cNvSpPr txBox="1"/>
          <p:nvPr/>
        </p:nvSpPr>
        <p:spPr>
          <a:xfrm>
            <a:off x="1134190" y="12953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╔═════════════════════════╗</a:t>
            </a:r>
          </a:p>
        </p:txBody>
      </p:sp>
      <p:sp>
        <p:nvSpPr>
          <p:cNvPr id="712" name="Text 1"/>
          <p:cNvSpPr txBox="1"/>
          <p:nvPr/>
        </p:nvSpPr>
        <p:spPr>
          <a:xfrm>
            <a:off x="1134190" y="33401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CIRCUIT BREAKER: LOOP PREVENTION</a:t>
            </a:r>
          </a:p>
        </p:txBody>
      </p:sp>
      <p:sp>
        <p:nvSpPr>
          <p:cNvPr id="713" name="Text 2"/>
          <p:cNvSpPr txBox="1"/>
          <p:nvPr/>
        </p:nvSpPr>
        <p:spPr>
          <a:xfrm>
            <a:off x="1134190" y="67818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╚═════════════════════════╝</a:t>
            </a:r>
          </a:p>
        </p:txBody>
      </p:sp>
      <p:sp>
        <p:nvSpPr>
          <p:cNvPr id="714" name="Text 3"/>
          <p:cNvSpPr txBox="1"/>
          <p:nvPr/>
        </p:nvSpPr>
        <p:spPr>
          <a:xfrm>
            <a:off x="951310" y="6535420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6/7]</a:t>
            </a:r>
          </a:p>
        </p:txBody>
      </p:sp>
      <p:sp>
        <p:nvSpPr>
          <p:cNvPr id="715" name="Text 4"/>
          <p:cNvSpPr txBox="1"/>
          <p:nvPr/>
        </p:nvSpPr>
        <p:spPr>
          <a:xfrm>
            <a:off x="1134190" y="1010919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code/core/circuit_breaker.py</a:t>
            </a:r>
          </a:p>
        </p:txBody>
      </p:sp>
      <p:sp>
        <p:nvSpPr>
          <p:cNvPr id="716" name="Shape 5"/>
          <p:cNvSpPr/>
          <p:nvPr/>
        </p:nvSpPr>
        <p:spPr>
          <a:xfrm>
            <a:off x="1271350" y="1488439"/>
            <a:ext cx="4698067" cy="3492582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Shape 6"/>
          <p:cNvSpPr/>
          <p:nvPr/>
        </p:nvSpPr>
        <p:spPr>
          <a:xfrm>
            <a:off x="1271350" y="1488439"/>
            <a:ext cx="4698067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8" name="Shape 7"/>
          <p:cNvSpPr/>
          <p:nvPr/>
        </p:nvSpPr>
        <p:spPr>
          <a:xfrm>
            <a:off x="1317070" y="15341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Shape 8"/>
          <p:cNvSpPr/>
          <p:nvPr/>
        </p:nvSpPr>
        <p:spPr>
          <a:xfrm>
            <a:off x="1408510" y="15341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0" name="Shape 9"/>
          <p:cNvSpPr/>
          <p:nvPr/>
        </p:nvSpPr>
        <p:spPr>
          <a:xfrm>
            <a:off x="1499950" y="153415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1" name="Shape 11"/>
          <p:cNvSpPr/>
          <p:nvPr/>
        </p:nvSpPr>
        <p:spPr>
          <a:xfrm>
            <a:off x="6302670" y="1468842"/>
            <a:ext cx="4698067" cy="3492582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2" name="Shape 12"/>
          <p:cNvSpPr/>
          <p:nvPr/>
        </p:nvSpPr>
        <p:spPr>
          <a:xfrm>
            <a:off x="6302670" y="1468842"/>
            <a:ext cx="4698067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3" name="Shape 13"/>
          <p:cNvSpPr/>
          <p:nvPr/>
        </p:nvSpPr>
        <p:spPr>
          <a:xfrm>
            <a:off x="6348390" y="1514562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4" name="Shape 14"/>
          <p:cNvSpPr/>
          <p:nvPr/>
        </p:nvSpPr>
        <p:spPr>
          <a:xfrm>
            <a:off x="6439830" y="1514562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5" name="Shape 15"/>
          <p:cNvSpPr/>
          <p:nvPr/>
        </p:nvSpPr>
        <p:spPr>
          <a:xfrm>
            <a:off x="6531270" y="1514562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6" name="Text 10"/>
          <p:cNvSpPr txBox="1"/>
          <p:nvPr/>
        </p:nvSpPr>
        <p:spPr>
          <a:xfrm>
            <a:off x="1474585" y="2088831"/>
            <a:ext cx="3985902" cy="2252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[THE LOOP SCENARIO: Autoscaling vs Terraform]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T+0:00  Autoscaling: t3.micro → t3.large (load spike)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T+0:01  Drift detected (risk: 0.22 — low)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T+0:03  Surgeon reverts to t3.micro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T+0:04  Auto-merge, terraform apply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T+0:07  Load still high, autoscaling fires again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T+0:08  Drift detected again · Patch generated again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T+0:10  Auto-merge, apply again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7 cycles in 1 hour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Instance thrashing constantly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No alert (each below threshold)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Nobody notices until bill arrives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Loops are the most dangerous failure mode — specifically because they can be completely silent.</a:t>
            </a:r>
          </a:p>
        </p:txBody>
      </p:sp>
      <p:sp>
        <p:nvSpPr>
          <p:cNvPr id="727" name="Text 16"/>
          <p:cNvSpPr txBox="1"/>
          <p:nvPr/>
        </p:nvSpPr>
        <p:spPr>
          <a:xfrm>
            <a:off x="6388053" y="1655039"/>
            <a:ext cx="4710767" cy="3159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PSEUDOCODE: Redis-Backed Circuit Breaker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RemediationCircuitBreaker: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WINDOW_SECONDS = 3600   # 1-hour rolling window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MAX_REMEDIATIONS = 3    # before circuit trips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COOLDOWN_SECONDS = 1800 # 30-min lockout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can_remediate(self, resource_id: str) -&gt; tuple[bool, str]: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Check cooldown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if self.redis.exists(f"circuit:cooldown:{resource_id}"):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return (False, "Circuit open. Manual investigation required.")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count = int(self.redis.get(f"circuit:count:{resource_id}") or 0)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if count &gt;= self.MAX_REMEDIATIONS: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self.redis.setex(cooldown_key, COOLDOWN_SECONDS, "tripped")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self._page_human(resource_id, count)  # PagerDuty (not Slack)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return (False, f"Loop detected: {count} remediations")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(True, "ok")</a:t>
            </a:r>
          </a:p>
          <a:p>
            <a:pPr defTabSz="914400">
              <a:lnSpc>
                <a:spcPct val="104999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WHY REDIS (not in-memory):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Agent processes restart (Kubernetes pods)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In-memory counters reset → loops not detected</a:t>
            </a:r>
          </a:p>
          <a:p>
            <a:pPr defTabSz="914400">
              <a:lnSpc>
                <a:spcPct val="104999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Redis persists across restarts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Slide Number Placeholder 3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30" name="Text 0"/>
          <p:cNvSpPr txBox="1"/>
          <p:nvPr/>
        </p:nvSpPr>
        <p:spPr>
          <a:xfrm>
            <a:off x="1124768" y="22121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╔════════════════════════╗</a:t>
            </a:r>
          </a:p>
        </p:txBody>
      </p:sp>
      <p:sp>
        <p:nvSpPr>
          <p:cNvPr id="731" name="Text 1"/>
          <p:cNvSpPr txBox="1"/>
          <p:nvPr/>
        </p:nvSpPr>
        <p:spPr>
          <a:xfrm>
            <a:off x="1124768" y="226591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ALERT FATIGUE: HOW WE BROKE IT</a:t>
            </a:r>
          </a:p>
        </p:txBody>
      </p:sp>
      <p:sp>
        <p:nvSpPr>
          <p:cNvPr id="732" name="Text 2"/>
          <p:cNvSpPr txBox="1"/>
          <p:nvPr/>
        </p:nvSpPr>
        <p:spPr>
          <a:xfrm>
            <a:off x="1124768" y="570761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╚════════════════════════╝</a:t>
            </a:r>
          </a:p>
        </p:txBody>
      </p:sp>
      <p:sp>
        <p:nvSpPr>
          <p:cNvPr id="733" name="Text 3"/>
          <p:cNvSpPr txBox="1"/>
          <p:nvPr/>
        </p:nvSpPr>
        <p:spPr>
          <a:xfrm>
            <a:off x="941888" y="6428001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6/7]</a:t>
            </a:r>
          </a:p>
        </p:txBody>
      </p:sp>
      <p:sp>
        <p:nvSpPr>
          <p:cNvPr id="734" name="Shape 5"/>
          <p:cNvSpPr/>
          <p:nvPr/>
        </p:nvSpPr>
        <p:spPr>
          <a:xfrm>
            <a:off x="1211952" y="858676"/>
            <a:ext cx="5567684" cy="2556276"/>
          </a:xfrm>
          <a:prstGeom prst="rect">
            <a:avLst/>
          </a:prstGeom>
          <a:solidFill>
            <a:srgbClr val="0A0A0A"/>
          </a:solidFill>
          <a:ln w="254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5" name="Shape 6"/>
          <p:cNvSpPr/>
          <p:nvPr/>
        </p:nvSpPr>
        <p:spPr>
          <a:xfrm>
            <a:off x="1211952" y="858676"/>
            <a:ext cx="5580384" cy="137161"/>
          </a:xfrm>
          <a:prstGeom prst="rect">
            <a:avLst/>
          </a:prstGeom>
          <a:solidFill>
            <a:srgbClr val="FF0066"/>
          </a:solidFill>
          <a:ln w="12700">
            <a:solidFill>
              <a:srgbClr val="FF0066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6" name="Shape 7"/>
          <p:cNvSpPr/>
          <p:nvPr/>
        </p:nvSpPr>
        <p:spPr>
          <a:xfrm>
            <a:off x="1257672" y="904396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7" name="Shape 8"/>
          <p:cNvSpPr/>
          <p:nvPr/>
        </p:nvSpPr>
        <p:spPr>
          <a:xfrm>
            <a:off x="1349113" y="904396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8" name="Shape 9"/>
          <p:cNvSpPr/>
          <p:nvPr/>
        </p:nvSpPr>
        <p:spPr>
          <a:xfrm>
            <a:off x="1440552" y="904396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9" name="Text 10"/>
          <p:cNvSpPr txBox="1"/>
          <p:nvPr/>
        </p:nvSpPr>
        <p:spPr>
          <a:xfrm>
            <a:off x="1394832" y="1027211"/>
            <a:ext cx="5201923" cy="2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[FIRST TWO WEEKS]</a:t>
            </a:r>
          </a:p>
          <a:p>
            <a:pPr defTabSz="914400">
              <a:lnSpc>
                <a:spcPct val="12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Monday:    847 alerts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Tuesday:   1,103 alerts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Wednesday: 923 alerts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Thursday:  890 alerts</a:t>
            </a:r>
          </a:p>
          <a:p>
            <a:pPr defTabSz="914400">
              <a:lnSpc>
                <a:spcPct val="12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TEAM RESPONSE BY DAY 10: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Disabled Slack notifications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Filtered drift emails to archive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 Systematically ignored all alerts</a:t>
            </a:r>
          </a:p>
          <a:p>
            <a:pPr defTabSz="914400">
              <a:lnSpc>
                <a:spcPct val="12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OUTCOME: Detection system so noisy the team developed a systematic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habit of ignoring it. This is worse than no detection system.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You have false confidence AND noise.</a:t>
            </a:r>
          </a:p>
          <a:p>
            <a:pPr defTabSz="914400">
              <a:lnSpc>
                <a:spcPct val="12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Real incidents drown in false positives.</a:t>
            </a:r>
          </a:p>
        </p:txBody>
      </p:sp>
      <p:sp>
        <p:nvSpPr>
          <p:cNvPr id="740" name="Shape 11"/>
          <p:cNvSpPr/>
          <p:nvPr/>
        </p:nvSpPr>
        <p:spPr>
          <a:xfrm>
            <a:off x="1211952" y="3625396"/>
            <a:ext cx="5567684" cy="2645677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1" name="Shape 12"/>
          <p:cNvSpPr/>
          <p:nvPr/>
        </p:nvSpPr>
        <p:spPr>
          <a:xfrm>
            <a:off x="1211952" y="3625396"/>
            <a:ext cx="5567684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2" name="Shape 13"/>
          <p:cNvSpPr/>
          <p:nvPr/>
        </p:nvSpPr>
        <p:spPr>
          <a:xfrm>
            <a:off x="1257672" y="3671116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3" name="Shape 14"/>
          <p:cNvSpPr/>
          <p:nvPr/>
        </p:nvSpPr>
        <p:spPr>
          <a:xfrm>
            <a:off x="1349113" y="3671116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4" name="Shape 15"/>
          <p:cNvSpPr/>
          <p:nvPr/>
        </p:nvSpPr>
        <p:spPr>
          <a:xfrm>
            <a:off x="1440552" y="3671116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5" name="Text 16"/>
          <p:cNvSpPr txBox="1"/>
          <p:nvPr/>
        </p:nvSpPr>
        <p:spPr>
          <a:xfrm>
            <a:off x="1413676" y="3852043"/>
            <a:ext cx="4831043" cy="23201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[THE 5 FIXES]</a:t>
            </a:r>
          </a:p>
          <a:p>
            <a:pPr defTabSz="914400">
              <a:lnSpc>
                <a:spcPct val="11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Correlation: 7 alerts → 1 incident  (-70% volume immediately)</a:t>
            </a:r>
            <a:br/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Severity-Based Routing: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CRITICAL → PagerDuty page  |  HIGH → Slack alert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MEDIUM → hourly batch      |  LOW → daily digest</a:t>
            </a:r>
            <a:br/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Drift-Ignore Annotations: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# drift-ignore: instance_type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# Reason: managed by autoscaling policy</a:t>
            </a:r>
            <a:br/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4. Per-Attribute Cooldowns: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First: alert  |  Second: alert with "repeat"  |  Third+: daily digest</a:t>
            </a:r>
            <a:br/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5. Rejection Feedback Loop:</a:t>
            </a:r>
          </a:p>
          <a:p>
            <a:pPr defTabSz="914400">
              <a:lnSpc>
                <a:spcPct val="115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PR closed + human comment → attribute added to suppression list</a:t>
            </a:r>
          </a:p>
        </p:txBody>
      </p:sp>
      <p:sp>
        <p:nvSpPr>
          <p:cNvPr id="746" name="Shape 17"/>
          <p:cNvSpPr/>
          <p:nvPr/>
        </p:nvSpPr>
        <p:spPr>
          <a:xfrm>
            <a:off x="6924519" y="4784433"/>
            <a:ext cx="3716013" cy="1489814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7" name="Text 18"/>
          <p:cNvSpPr txBox="1"/>
          <p:nvPr/>
        </p:nvSpPr>
        <p:spPr>
          <a:xfrm>
            <a:off x="7080644" y="4987576"/>
            <a:ext cx="7498080" cy="1083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[THE RESULT]</a:t>
            </a:r>
          </a:p>
          <a:p>
            <a:pPr defTabSz="914400">
              <a:lnSpc>
                <a:spcPct val="12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Week 1:  ~900 alerts/day  (team ignores everything)</a:t>
            </a: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Week 4:   ~30 alerts/day  (team responds to everything)</a:t>
            </a:r>
          </a:p>
          <a:p>
            <a:pPr defTabSz="914400">
              <a:lnSpc>
                <a:spcPct val="125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The reduction is the outcome.</a:t>
            </a:r>
          </a:p>
          <a:p>
            <a:pPr defTabSz="914400">
              <a:lnSpc>
                <a:spcPct val="125000"/>
              </a:lnSpc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Team trust in the signal is the actual product.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Slide Number Placeholder 3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0" name="Text 0"/>
          <p:cNvSpPr txBox="1"/>
          <p:nvPr/>
        </p:nvSpPr>
        <p:spPr>
          <a:xfrm>
            <a:off x="502919" y="1269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╔════════════════════╗</a:t>
            </a:r>
          </a:p>
        </p:txBody>
      </p:sp>
      <p:sp>
        <p:nvSpPr>
          <p:cNvPr id="751" name="Text 1"/>
          <p:cNvSpPr txBox="1"/>
          <p:nvPr/>
        </p:nvSpPr>
        <p:spPr>
          <a:xfrm>
            <a:off x="502919" y="21717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HONEST LIMITS: RISK MATRIX</a:t>
            </a:r>
          </a:p>
        </p:txBody>
      </p:sp>
      <p:sp>
        <p:nvSpPr>
          <p:cNvPr id="752" name="Text 2"/>
          <p:cNvSpPr txBox="1"/>
          <p:nvPr/>
        </p:nvSpPr>
        <p:spPr>
          <a:xfrm>
            <a:off x="502919" y="56134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╚════════════════════╝</a:t>
            </a:r>
          </a:p>
        </p:txBody>
      </p:sp>
      <p:sp>
        <p:nvSpPr>
          <p:cNvPr id="753" name="Text 3"/>
          <p:cNvSpPr txBox="1"/>
          <p:nvPr/>
        </p:nvSpPr>
        <p:spPr>
          <a:xfrm>
            <a:off x="470791" y="6376558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6/7]</a:t>
            </a:r>
          </a:p>
        </p:txBody>
      </p:sp>
      <p:sp>
        <p:nvSpPr>
          <p:cNvPr id="754" name="Text 4"/>
          <p:cNvSpPr txBox="1"/>
          <p:nvPr/>
        </p:nvSpPr>
        <p:spPr>
          <a:xfrm>
            <a:off x="502919" y="894080"/>
            <a:ext cx="813816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cat production_checklist.txt</a:t>
            </a:r>
          </a:p>
        </p:txBody>
      </p:sp>
      <p:sp>
        <p:nvSpPr>
          <p:cNvPr id="755" name="Shape 5"/>
          <p:cNvSpPr/>
          <p:nvPr/>
        </p:nvSpPr>
        <p:spPr>
          <a:xfrm>
            <a:off x="640079" y="1371600"/>
            <a:ext cx="5225660" cy="2993311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6" name="Shape 6"/>
          <p:cNvSpPr/>
          <p:nvPr/>
        </p:nvSpPr>
        <p:spPr>
          <a:xfrm>
            <a:off x="640079" y="1371600"/>
            <a:ext cx="5225660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7" name="Shape 7"/>
          <p:cNvSpPr/>
          <p:nvPr/>
        </p:nvSpPr>
        <p:spPr>
          <a:xfrm>
            <a:off x="68580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8" name="Shape 8"/>
          <p:cNvSpPr/>
          <p:nvPr/>
        </p:nvSpPr>
        <p:spPr>
          <a:xfrm>
            <a:off x="77724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9" name="Shape 9"/>
          <p:cNvSpPr/>
          <p:nvPr/>
        </p:nvSpPr>
        <p:spPr>
          <a:xfrm>
            <a:off x="86868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0" name="Text 10"/>
          <p:cNvSpPr txBox="1"/>
          <p:nvPr/>
        </p:nvSpPr>
        <p:spPr>
          <a:xfrm>
            <a:off x="822960" y="1763337"/>
            <a:ext cx="4859898" cy="2336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[RISK MATRIX: When Automation Is Appropriate]</a:t>
            </a:r>
          </a:p>
          <a:p>
            <a:pPr defTabSz="914400">
              <a:lnSpc>
                <a:spcPct val="110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RESOURCE CRITICALITY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LOW                    HIGH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┌────────────────────┬────────────────────┐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DEV /    │  [AUTO] FULL AUTO  │  [REVIEW] REQUIRED │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STAGING  │  Auto-merge OK     │  PR + team review  │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├────────────────────┼────────────────────┤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PROD     │  [REVIEW] REQUIRED │  [MANUAL] ONLY     │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│  PR required       │  Mandatory human   │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└────────────────────┴────────────────────┘</a:t>
            </a:r>
          </a:p>
          <a:p>
            <a:pPr defTabSz="914400">
              <a:lnSpc>
                <a:spcPct val="110000"/>
              </a:lnSpc>
              <a:defRPr sz="9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Examples: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[AUTO]   Tag drift in dev · non-critical attrs in staging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[REVIEW] Instance type in prod · S3 lifecycle in prod</a:t>
            </a:r>
          </a:p>
          <a:p>
            <a:pPr defTabSz="914400">
              <a:lnSpc>
                <a:spcPct val="110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[MANUAL] RDS, IAM, KMS, VPC, Secrets Manager — ANY environment</a:t>
            </a:r>
          </a:p>
        </p:txBody>
      </p:sp>
      <p:sp>
        <p:nvSpPr>
          <p:cNvPr id="761" name="Shape 11"/>
          <p:cNvSpPr/>
          <p:nvPr/>
        </p:nvSpPr>
        <p:spPr>
          <a:xfrm>
            <a:off x="6067121" y="3061084"/>
            <a:ext cx="5042888" cy="3341806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2" name="Shape 12"/>
          <p:cNvSpPr/>
          <p:nvPr/>
        </p:nvSpPr>
        <p:spPr>
          <a:xfrm>
            <a:off x="6067121" y="3061084"/>
            <a:ext cx="5042888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3" name="Shape 13"/>
          <p:cNvSpPr/>
          <p:nvPr/>
        </p:nvSpPr>
        <p:spPr>
          <a:xfrm>
            <a:off x="6112841" y="3106804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4" name="Shape 14"/>
          <p:cNvSpPr/>
          <p:nvPr/>
        </p:nvSpPr>
        <p:spPr>
          <a:xfrm>
            <a:off x="6204281" y="3106804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5" name="Shape 15"/>
          <p:cNvSpPr/>
          <p:nvPr/>
        </p:nvSpPr>
        <p:spPr>
          <a:xfrm>
            <a:off x="6295721" y="3106804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6" name="Text 16"/>
          <p:cNvSpPr txBox="1"/>
          <p:nvPr/>
        </p:nvSpPr>
        <p:spPr>
          <a:xfrm>
            <a:off x="6207353" y="3290283"/>
            <a:ext cx="7498080" cy="301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[MANDATORY PRE-PRODUCTION CHECKLIST]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Before enabling ANY auto-remediation: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1.  State locking active (S3+DynamoDB or TFC)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2.  OPA guardrails deployed AND tested with real deny scenarios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3.  Incident integration live (PD/OpsGenie → active_incident)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4.  Circuit breaker active with Redis backend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5.  Audit logging for every agent action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6.  Post-apply drift verification enabled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7.  Rollback runbook: restore prior state in &lt; 5 minutes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8.  Alert thresholds tuned (&lt; 50 actionable alerts/day)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9.  Auto-merge scoped ONLY to risk &lt; 0.3 + non-critical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[OK] 10. Kill switch: disable entire agent in &lt; 2 minutes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ANY item missing: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Detection only — YES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Detective agent (read-only analysis) — YES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Surgeon PR generation — YES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Auto-merge — NOT YET</a:t>
            </a:r>
          </a:p>
          <a:p>
            <a:pPr defTabSz="914400">
              <a:lnSpc>
                <a:spcPct val="11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KEY INSIGHT: Each item is there because its absence caused</a:t>
            </a:r>
          </a:p>
          <a:p>
            <a:pPr defTabSz="914400">
              <a:lnSpc>
                <a:spcPct val="11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 real incident somewhere. This is a lessons-learned list.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Text 0"/>
          <p:cNvSpPr txBox="1"/>
          <p:nvPr/>
        </p:nvSpPr>
        <p:spPr>
          <a:xfrm>
            <a:off x="1134190" y="12953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╔════════════════════════╗</a:t>
            </a:r>
          </a:p>
        </p:txBody>
      </p:sp>
      <p:sp>
        <p:nvSpPr>
          <p:cNvPr id="769" name="Text 1"/>
          <p:cNvSpPr txBox="1"/>
          <p:nvPr/>
        </p:nvSpPr>
        <p:spPr>
          <a:xfrm>
            <a:off x="1134190" y="33401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D7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STRUCTURED PROMPTS: THE SECRET</a:t>
            </a:r>
          </a:p>
        </p:txBody>
      </p:sp>
      <p:sp>
        <p:nvSpPr>
          <p:cNvPr id="770" name="Text 2"/>
          <p:cNvSpPr txBox="1"/>
          <p:nvPr/>
        </p:nvSpPr>
        <p:spPr>
          <a:xfrm>
            <a:off x="1134190" y="67818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╚════════════════════════╝</a:t>
            </a:r>
          </a:p>
        </p:txBody>
      </p:sp>
      <p:sp>
        <p:nvSpPr>
          <p:cNvPr id="771" name="Text 3"/>
          <p:cNvSpPr txBox="1"/>
          <p:nvPr/>
        </p:nvSpPr>
        <p:spPr>
          <a:xfrm>
            <a:off x="951310" y="6535420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6/7]</a:t>
            </a:r>
          </a:p>
        </p:txBody>
      </p:sp>
      <p:sp>
        <p:nvSpPr>
          <p:cNvPr id="772" name="Shape 6"/>
          <p:cNvSpPr/>
          <p:nvPr/>
        </p:nvSpPr>
        <p:spPr>
          <a:xfrm>
            <a:off x="1196838" y="1056597"/>
            <a:ext cx="7863841" cy="5395046"/>
          </a:xfrm>
          <a:prstGeom prst="rect">
            <a:avLst/>
          </a:prstGeom>
          <a:solidFill>
            <a:srgbClr val="0A0A0A"/>
          </a:solidFill>
          <a:ln w="25400">
            <a:solidFill>
              <a:srgbClr val="FFD7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3" name="Text 11"/>
          <p:cNvSpPr txBox="1"/>
          <p:nvPr/>
        </p:nvSpPr>
        <p:spPr>
          <a:xfrm>
            <a:off x="1286579" y="1093658"/>
            <a:ext cx="7498080" cy="5320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WHY 95% ACCURACY? THE PROMPT TEMPLATE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FORBIDDEN PATTERNS (will cause Checker to reject):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[FORBIDDEN] provider "aws" { ... }        # No provider blocks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[FORBIDDEN] data "aws_*" { ... }          # No data sources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[FORBIDDEN] provisioner "local-exec"      # No provisioners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[FORBIDDEN] force_destroy = true          # No destructive flags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[FORBIDDEN] lifecycle { prevent_destroy = false }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ALLOWED PATTERNS: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[ALLOWED] resource "aws_security_group" "name" { ... 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[ALLOWED] ingress { cidr_blocks = ["10.0.0.0/8"] 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[ALLOWED] tags = { Environment = "prod" }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VALIDATION CHECKLIST (LLM must confirm):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 ] Output is ONLY the resource block (no explanation text)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 ] cidr_blocks matches desired_state exactly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 ] No markdown code blocks (hcl format)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 ] Resource type = {drift_event.resource_type}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 ] Resource name = {drift_event.resource_name}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 ] All modified fields present in output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 ] No fields modified that weren't in drift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SECURITY CONSTRAINTS: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If CIDR change: NEW cidr must be NARROWER or EQUAL (never broader)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If port change: NEW port must be more restrictive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If IAM change: NEW permissions must be subset of old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ANY destructive operation → ERROR (will be rejected)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EXAMPLE OUTPUT (EXACTLY THIS FORMAT):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resource "aws_security_group" "api_server_sg" {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ingress {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from_port   = 22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to_port     = 22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cidr_blocks = ["10.0.0.0/8"]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description = "Internal SSH only"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COMMON ERRORS TO AVOID: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Wrapping in markdown: hcl code blocks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Adding explanation: "Here's the fix..."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Including provider blocks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Modifying unrelated fields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[X] Broadening CIDR (e.g., 10.0.0.0/8 → 0.0.0.0/0)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INPUT CONTEXT PROVIDED: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desired_state: {rca_report.desired_state}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actual_state: {drift_event.actual_state}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policy_violations: {rca_report.policy_violations}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 blast_radius: {rca_report.blast_radius}</a:t>
            </a:r>
          </a:p>
          <a:p>
            <a:pPr defTabSz="914400">
              <a:lnSpc>
                <a:spcPct val="104999"/>
              </a:lnSpc>
              <a:defRPr sz="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YOUR TASK: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Generate ONLY the Terraform resource block to restore desired_state.</a:t>
            </a:r>
          </a:p>
          <a:p>
            <a:pPr defTabSz="914400">
              <a:lnSpc>
                <a:spcPct val="104999"/>
              </a:lnSpc>
              <a:defRPr sz="6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 additional text. No explanation. Pure HCL.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Slide Number Placeholder 3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76" name="Text 0"/>
          <p:cNvSpPr txBox="1"/>
          <p:nvPr/>
        </p:nvSpPr>
        <p:spPr>
          <a:xfrm>
            <a:off x="1143612" y="40965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╔═════════════════════╗</a:t>
            </a:r>
          </a:p>
        </p:txBody>
      </p:sp>
      <p:sp>
        <p:nvSpPr>
          <p:cNvPr id="777" name="Text 1"/>
          <p:cNvSpPr txBox="1"/>
          <p:nvPr/>
        </p:nvSpPr>
        <p:spPr>
          <a:xfrm>
            <a:off x="1143612" y="245435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9D00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CAUSAL GRAPH: ROOT CAUSE AI</a:t>
            </a:r>
          </a:p>
        </p:txBody>
      </p:sp>
      <p:sp>
        <p:nvSpPr>
          <p:cNvPr id="778" name="Text 2"/>
          <p:cNvSpPr txBox="1"/>
          <p:nvPr/>
        </p:nvSpPr>
        <p:spPr>
          <a:xfrm>
            <a:off x="1143612" y="589605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╚═════════════════════╝</a:t>
            </a:r>
          </a:p>
        </p:txBody>
      </p:sp>
      <p:sp>
        <p:nvSpPr>
          <p:cNvPr id="779" name="Text 3"/>
          <p:cNvSpPr txBox="1"/>
          <p:nvPr/>
        </p:nvSpPr>
        <p:spPr>
          <a:xfrm>
            <a:off x="960732" y="6446845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6/7]</a:t>
            </a:r>
          </a:p>
        </p:txBody>
      </p:sp>
      <p:sp>
        <p:nvSpPr>
          <p:cNvPr id="780" name="Text 4"/>
          <p:cNvSpPr txBox="1"/>
          <p:nvPr/>
        </p:nvSpPr>
        <p:spPr>
          <a:xfrm>
            <a:off x="1143612" y="922345"/>
            <a:ext cx="8138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rgbClr val="9D00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python -m core.causal_graph  # code/core/causal_graph.py</a:t>
            </a:r>
          </a:p>
        </p:txBody>
      </p:sp>
      <p:sp>
        <p:nvSpPr>
          <p:cNvPr id="781" name="Shape 5"/>
          <p:cNvSpPr/>
          <p:nvPr/>
        </p:nvSpPr>
        <p:spPr>
          <a:xfrm>
            <a:off x="1280772" y="1399865"/>
            <a:ext cx="4370909" cy="5016454"/>
          </a:xfrm>
          <a:prstGeom prst="rect">
            <a:avLst/>
          </a:prstGeom>
          <a:solidFill>
            <a:srgbClr val="0A0A0A"/>
          </a:solidFill>
          <a:ln w="25400">
            <a:solidFill>
              <a:srgbClr val="9D00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2" name="Shape 6"/>
          <p:cNvSpPr/>
          <p:nvPr/>
        </p:nvSpPr>
        <p:spPr>
          <a:xfrm>
            <a:off x="1280772" y="1399865"/>
            <a:ext cx="4370909" cy="137161"/>
          </a:xfrm>
          <a:prstGeom prst="rect">
            <a:avLst/>
          </a:prstGeom>
          <a:solidFill>
            <a:srgbClr val="9D00FF"/>
          </a:solidFill>
          <a:ln w="12700">
            <a:solidFill>
              <a:srgbClr val="9D00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3" name="Shape 7"/>
          <p:cNvSpPr/>
          <p:nvPr/>
        </p:nvSpPr>
        <p:spPr>
          <a:xfrm>
            <a:off x="1326492" y="144558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4" name="Shape 8"/>
          <p:cNvSpPr/>
          <p:nvPr/>
        </p:nvSpPr>
        <p:spPr>
          <a:xfrm>
            <a:off x="1417932" y="144558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5" name="Shape 9"/>
          <p:cNvSpPr/>
          <p:nvPr/>
        </p:nvSpPr>
        <p:spPr>
          <a:xfrm>
            <a:off x="1509372" y="1445585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6" name="Text 10"/>
          <p:cNvSpPr txBox="1"/>
          <p:nvPr/>
        </p:nvSpPr>
        <p:spPr>
          <a:xfrm>
            <a:off x="1463652" y="1649880"/>
            <a:ext cx="3291841" cy="4690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PSEUDOCODE: Causal DAG Builder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build_causal_graph(events):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Step 1: Create directed graph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graph = DirectedGraph()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Step 2: Add all drift events as nodes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 event in events: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graph.add_node(event)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Step 3: Sort by time (cause precedes effect)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sorted_by_time = sort(events, by=timestamp)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Step 4: Add causal edges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 each (earlier_event, later_event) in sorted_by_time: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time_diff = later_event.time - earlier_event.time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if time_diff &lt; 1 hour:  # Temporal window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# Look up domain relationship strength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strength = CAUSAL_MATRIX[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earlier_event.resource_type,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later_event.resource_type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]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if strength &gt; 0: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graph.add_edge(earlier → later, weight=strength)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graph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CAUSAL RELATIONSHIP MATRIX (domain knowledge):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security_group → ec2_instance:  0.9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iam_role       → lambda:        0.9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vpc            → subnet:         0.95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subnet         → ec2_instance:  0.9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ROOT CAUSE = nodes with: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 - Zero incoming edges (not caused by anything)</a:t>
            </a: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 - At least 1 outgoing edge (causes something else)</a:t>
            </a:r>
          </a:p>
          <a:p>
            <a:pPr defTabSz="914400">
              <a:lnSpc>
                <a:spcPct val="104999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04999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root_causes = nodes where in_degree == 0 AND out_degree &gt; 0</a:t>
            </a:r>
          </a:p>
        </p:txBody>
      </p:sp>
      <p:sp>
        <p:nvSpPr>
          <p:cNvPr id="787" name="Shape 11"/>
          <p:cNvSpPr/>
          <p:nvPr/>
        </p:nvSpPr>
        <p:spPr>
          <a:xfrm>
            <a:off x="6091713" y="1371600"/>
            <a:ext cx="4114801" cy="5016453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8" name="Shape 12"/>
          <p:cNvSpPr/>
          <p:nvPr/>
        </p:nvSpPr>
        <p:spPr>
          <a:xfrm>
            <a:off x="6091713" y="1371600"/>
            <a:ext cx="4114801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9" name="Shape 13"/>
          <p:cNvSpPr/>
          <p:nvPr/>
        </p:nvSpPr>
        <p:spPr>
          <a:xfrm>
            <a:off x="6137433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0" name="Shape 14"/>
          <p:cNvSpPr/>
          <p:nvPr/>
        </p:nvSpPr>
        <p:spPr>
          <a:xfrm>
            <a:off x="6228873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1" name="Shape 15"/>
          <p:cNvSpPr/>
          <p:nvPr/>
        </p:nvSpPr>
        <p:spPr>
          <a:xfrm>
            <a:off x="6320313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2" name="Text 16"/>
          <p:cNvSpPr txBox="1"/>
          <p:nvPr/>
        </p:nvSpPr>
        <p:spPr>
          <a:xfrm>
            <a:off x="6274592" y="1534344"/>
            <a:ext cx="3749041" cy="4747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[CAUSAL GRAPH VISUALIZATION]</a:t>
            </a:r>
          </a:p>
          <a:p>
            <a:pPr defTabSz="914400">
              <a:lnSpc>
                <a:spcPct val="110000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sg-0abc123 (CRITICAL)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aws_security_group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|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|  causes (0.9)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v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i-0a1b2c3d (HIGH)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aws_instance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|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|  causes (0.7)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v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db-prod (MEDIUM)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rds_instance</a:t>
            </a:r>
          </a:p>
          <a:p>
            <a:pPr defTabSz="914400">
              <a:lnSpc>
                <a:spcPct val="110000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ROOT CAUSE: sg-0abc123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No incoming edges (nothing caused it)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- 2 outgoing edges (caused 2 events)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Impact score: 0.87</a:t>
            </a:r>
          </a:p>
          <a:p>
            <a:pPr defTabSz="914400">
              <a:lnSpc>
                <a:spcPct val="110000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DOWNSTREAM EFFECTS: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- 2 EC2 instances (direct)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- 1 RDS database (indirect, via EC2)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- 1 EFS mount (indirect, via EC2)</a:t>
            </a:r>
          </a:p>
          <a:p>
            <a:pPr defTabSz="914400">
              <a:lnSpc>
                <a:spcPct val="110000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CAUSAL DEPTH: 2 hops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sg → instance → database</a:t>
            </a:r>
          </a:p>
          <a:p>
            <a:pPr defTabSz="914400">
              <a:lnSpc>
                <a:spcPct val="110000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PREDICTION: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"Fixing sg-0abc123 will resolve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all 3 downstream alerts"</a:t>
            </a:r>
          </a:p>
          <a:p>
            <a:pPr defTabSz="914400">
              <a:lnSpc>
                <a:spcPct val="110000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VISUALIZATION SAVED: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demo/causal_graph.png</a:t>
            </a:r>
          </a:p>
          <a:p>
            <a:pPr defTabSz="914400">
              <a:lnSpc>
                <a:spcPct val="110000"/>
              </a:lnSpc>
              <a:defRPr sz="7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STATISTICS: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Total nodes: 7 events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Causal edges: 12 relationships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Root causes: 1 identified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Noise reduction: 85%</a:t>
            </a:r>
          </a:p>
          <a:p>
            <a:pPr defTabSz="914400">
              <a:lnSpc>
                <a:spcPct val="110000"/>
              </a:lnSpc>
              <a:defRPr sz="7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(7 alerts → 1 root cause)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lide Number Placeholder 3"/>
          <p:cNvSpPr txBox="1"/>
          <p:nvPr>
            <p:ph type="sldNum" sz="quarter" idx="2"/>
          </p:nvPr>
        </p:nvSpPr>
        <p:spPr>
          <a:xfrm>
            <a:off x="11622054" y="387914"/>
            <a:ext cx="266974" cy="2592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95" name="Text 0"/>
          <p:cNvSpPr txBox="1"/>
          <p:nvPr/>
        </p:nvSpPr>
        <p:spPr>
          <a:xfrm>
            <a:off x="502919" y="1269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╔════════════════╗</a:t>
            </a:r>
          </a:p>
        </p:txBody>
      </p:sp>
      <p:sp>
        <p:nvSpPr>
          <p:cNvPr id="796" name="Text 1"/>
          <p:cNvSpPr txBox="1"/>
          <p:nvPr/>
        </p:nvSpPr>
        <p:spPr>
          <a:xfrm>
            <a:off x="502919" y="217170"/>
            <a:ext cx="81381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TAKEAWAYS &amp; RESOURCES</a:t>
            </a:r>
          </a:p>
        </p:txBody>
      </p:sp>
      <p:sp>
        <p:nvSpPr>
          <p:cNvPr id="797" name="Text 2"/>
          <p:cNvSpPr txBox="1"/>
          <p:nvPr/>
        </p:nvSpPr>
        <p:spPr>
          <a:xfrm>
            <a:off x="502919" y="561340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╚════════════════╝</a:t>
            </a:r>
          </a:p>
        </p:txBody>
      </p:sp>
      <p:sp>
        <p:nvSpPr>
          <p:cNvPr id="798" name="Text 3"/>
          <p:cNvSpPr txBox="1"/>
          <p:nvPr/>
        </p:nvSpPr>
        <p:spPr>
          <a:xfrm>
            <a:off x="320040" y="6418579"/>
            <a:ext cx="1280161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7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[SEC 7/7]</a:t>
            </a:r>
          </a:p>
        </p:txBody>
      </p:sp>
      <p:sp>
        <p:nvSpPr>
          <p:cNvPr id="799" name="Shape 5"/>
          <p:cNvSpPr/>
          <p:nvPr/>
        </p:nvSpPr>
        <p:spPr>
          <a:xfrm>
            <a:off x="640079" y="1371600"/>
            <a:ext cx="7863842" cy="1929131"/>
          </a:xfrm>
          <a:prstGeom prst="rect">
            <a:avLst/>
          </a:prstGeom>
          <a:solidFill>
            <a:srgbClr val="0A0A0A"/>
          </a:solidFill>
          <a:ln w="254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0" name="Shape 6"/>
          <p:cNvSpPr/>
          <p:nvPr/>
        </p:nvSpPr>
        <p:spPr>
          <a:xfrm>
            <a:off x="640079" y="1371600"/>
            <a:ext cx="7863842" cy="137161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1" name="Shape 7"/>
          <p:cNvSpPr/>
          <p:nvPr/>
        </p:nvSpPr>
        <p:spPr>
          <a:xfrm>
            <a:off x="68580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2" name="Shape 8"/>
          <p:cNvSpPr/>
          <p:nvPr/>
        </p:nvSpPr>
        <p:spPr>
          <a:xfrm>
            <a:off x="77724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Shape 9"/>
          <p:cNvSpPr/>
          <p:nvPr/>
        </p:nvSpPr>
        <p:spPr>
          <a:xfrm>
            <a:off x="868680" y="1417319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4" name="Text 11"/>
          <p:cNvSpPr txBox="1"/>
          <p:nvPr/>
        </p:nvSpPr>
        <p:spPr>
          <a:xfrm>
            <a:off x="822960" y="1717040"/>
            <a:ext cx="7498079" cy="132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Drift is inevitable → Correlation is essential</a:t>
            </a:r>
          </a:p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Graph model + Causal AI → Blast radius + RCA</a:t>
            </a:r>
          </a:p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Three-agent architecture → Detective (RCA) + Surgeon (MAKER) + Checker (VALIDATOR)</a:t>
            </a:r>
          </a:p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4. OPA + CODEOWNERS → Governance without gatekeeping</a:t>
            </a:r>
          </a:p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5. active_incident field → Prevent hotfix reversal</a:t>
            </a:r>
          </a:p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6. Start small → Scale with confidence</a:t>
            </a:r>
          </a:p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7. Circuit breakers → Prevent infinite loops</a:t>
            </a:r>
          </a:p>
          <a:p>
            <a:pPr defTabSz="914400">
              <a:lnSpc>
                <a:spcPct val="125000"/>
              </a:lnSpc>
              <a:defRPr sz="9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8. 85% alert reduction → Team trust</a:t>
            </a:r>
          </a:p>
        </p:txBody>
      </p:sp>
      <p:sp>
        <p:nvSpPr>
          <p:cNvPr id="805" name="Text 12"/>
          <p:cNvSpPr txBox="1"/>
          <p:nvPr/>
        </p:nvSpPr>
        <p:spPr>
          <a:xfrm>
            <a:off x="685799" y="3453953"/>
            <a:ext cx="77724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00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[RESOURCES]</a:t>
            </a:r>
          </a:p>
        </p:txBody>
      </p:sp>
      <p:sp>
        <p:nvSpPr>
          <p:cNvPr id="806" name="Shape 13"/>
          <p:cNvSpPr/>
          <p:nvPr/>
        </p:nvSpPr>
        <p:spPr>
          <a:xfrm>
            <a:off x="640079" y="3752403"/>
            <a:ext cx="7863841" cy="1960504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7" name="Shape 14"/>
          <p:cNvSpPr/>
          <p:nvPr/>
        </p:nvSpPr>
        <p:spPr>
          <a:xfrm>
            <a:off x="640079" y="3752403"/>
            <a:ext cx="7863841" cy="137161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8" name="Shape 15"/>
          <p:cNvSpPr/>
          <p:nvPr/>
        </p:nvSpPr>
        <p:spPr>
          <a:xfrm>
            <a:off x="685799" y="379812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9" name="Shape 16"/>
          <p:cNvSpPr/>
          <p:nvPr/>
        </p:nvSpPr>
        <p:spPr>
          <a:xfrm>
            <a:off x="777239" y="379812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0" name="Shape 17"/>
          <p:cNvSpPr/>
          <p:nvPr/>
        </p:nvSpPr>
        <p:spPr>
          <a:xfrm>
            <a:off x="868679" y="3798123"/>
            <a:ext cx="45721" cy="45721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1" name="Text 18"/>
          <p:cNvSpPr txBox="1"/>
          <p:nvPr/>
        </p:nvSpPr>
        <p:spPr>
          <a:xfrm>
            <a:off x="822960" y="3927851"/>
            <a:ext cx="7498080" cy="1711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GitHub: https://github.com/neerajp99/devopsconfRU</a:t>
            </a: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/schemas - DriftEvent + RCAReport (Pydantic)</a:t>
            </a: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/agents - Detective + Surgeon implementations</a:t>
            </a: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/opa - Three-tier policies (Rego)</a:t>
            </a: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/prompts - Domain-specific templates</a:t>
            </a:r>
          </a:p>
          <a:p>
            <a:pPr defTabSz="914400">
              <a:lnSpc>
                <a:spcPct val="13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Models: Claude Sonnet 4.6, Azure o3-mini, Claude Opus 4.6</a:t>
            </a: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Tools: Neo4j, OPA, NetworkX, CausalLearn (PyWhy)</a:t>
            </a: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Cost: &lt;$300/month for 50 events/day - </a:t>
            </a:r>
            <a:r>
              <a:rPr>
                <a:solidFill>
                  <a:srgbClr val="A7A7A7"/>
                </a:solidFill>
              </a:rPr>
              <a:t>[Approx cost for deploying and running the agents]</a:t>
            </a:r>
          </a:p>
          <a:p>
            <a:pPr defTabSz="914400">
              <a:lnSpc>
                <a:spcPct val="130000"/>
              </a:lnSpc>
              <a:defRPr sz="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914400">
              <a:lnSpc>
                <a:spcPct val="130000"/>
              </a:lnSpc>
              <a:defRPr sz="80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• Contact: </a:t>
            </a:r>
            <a:r>
              <a:rPr b="1" u="sng">
                <a:solidFill>
                  <a:srgbClr val="00B4BB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neeraj@lyntcube.com</a:t>
            </a:r>
          </a:p>
        </p:txBody>
      </p:sp>
      <p:sp>
        <p:nvSpPr>
          <p:cNvPr id="812" name="Text 19"/>
          <p:cNvSpPr txBox="1"/>
          <p:nvPr/>
        </p:nvSpPr>
        <p:spPr>
          <a:xfrm>
            <a:off x="1874520" y="5792469"/>
            <a:ext cx="5394960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b="1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813" name="Text 20"/>
          <p:cNvSpPr txBox="1"/>
          <p:nvPr/>
        </p:nvSpPr>
        <p:spPr>
          <a:xfrm>
            <a:off x="1516486" y="6253480"/>
            <a:ext cx="53949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914400">
              <a:defRPr sz="12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Thank you! █</a:t>
            </a:r>
          </a:p>
        </p:txBody>
      </p:sp>
      <p:sp>
        <p:nvSpPr>
          <p:cNvPr id="814" name="Text 12"/>
          <p:cNvSpPr txBox="1"/>
          <p:nvPr/>
        </p:nvSpPr>
        <p:spPr>
          <a:xfrm>
            <a:off x="685799" y="1078676"/>
            <a:ext cx="77724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b="1" sz="1000">
                <a:solidFill>
                  <a:srgbClr val="38FF1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[KEY TAKEAWAYS]</a:t>
            </a:r>
          </a:p>
        </p:txBody>
      </p:sp>
      <p:pic>
        <p:nvPicPr>
          <p:cNvPr id="815" name="Screenshot 2026-04-02 at 10.06.58.png" descr="Screenshot 2026-04-02 at 10.06.5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42053" y="2281731"/>
            <a:ext cx="1986102" cy="1954531"/>
          </a:xfrm>
          <a:prstGeom prst="rect">
            <a:avLst/>
          </a:prstGeom>
          <a:ln w="12700">
            <a:miter lim="400000"/>
          </a:ln>
        </p:spPr>
      </p:pic>
      <p:sp>
        <p:nvSpPr>
          <p:cNvPr id="816" name="Text 4"/>
          <p:cNvSpPr txBox="1"/>
          <p:nvPr/>
        </p:nvSpPr>
        <p:spPr>
          <a:xfrm>
            <a:off x="8930104" y="4307028"/>
            <a:ext cx="22100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For slides &amp; repository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Заголовок 1"/>
          <p:cNvSpPr txBox="1"/>
          <p:nvPr>
            <p:ph type="title"/>
          </p:nvPr>
        </p:nvSpPr>
        <p:spPr>
          <a:xfrm>
            <a:off x="885370" y="1041272"/>
            <a:ext cx="5840629" cy="1698927"/>
          </a:xfrm>
          <a:prstGeom prst="rect">
            <a:avLst/>
          </a:prstGeom>
        </p:spPr>
        <p:txBody>
          <a:bodyPr/>
          <a:lstStyle/>
          <a:p>
            <a:pPr/>
            <a:r>
              <a:t>Thank </a:t>
            </a:r>
            <a:r>
              <a:rPr>
                <a:latin typeface="Square721 BT Roman"/>
                <a:ea typeface="Square721 BT Roman"/>
                <a:cs typeface="Square721 BT Roman"/>
                <a:sym typeface="Square721 BT Roman"/>
              </a:rPr>
              <a:t>You</a:t>
            </a:r>
          </a:p>
        </p:txBody>
      </p:sp>
      <p:sp>
        <p:nvSpPr>
          <p:cNvPr id="819" name="Подзаголовок 2"/>
          <p:cNvSpPr txBox="1"/>
          <p:nvPr>
            <p:ph type="body" sz="quarter" idx="1"/>
          </p:nvPr>
        </p:nvSpPr>
        <p:spPr>
          <a:xfrm>
            <a:off x="885370" y="3319009"/>
            <a:ext cx="5840629" cy="1307805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Square721 BT Roman"/>
                <a:ea typeface="Square721 BT Roman"/>
                <a:cs typeface="Square721 BT Roman"/>
                <a:sym typeface="Square721 BT Roman"/>
              </a:defRPr>
            </a:pPr>
            <a:r>
              <a:t>Neeraj Pandey</a:t>
            </a:r>
            <a:br/>
            <a:r>
              <a:t>@n4jp4y</a:t>
            </a:r>
          </a:p>
        </p:txBody>
      </p:sp>
      <p:pic>
        <p:nvPicPr>
          <p:cNvPr id="820" name="Screenshot 2026-04-01 at 08.57.00.png" descr="Screenshot 2026-04-01 at 08.57.00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23" r="0" b="123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98D7E"/>
      </a:accent1>
      <a:accent2>
        <a:srgbClr val="4FBAFC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98D7E"/>
      </a:accent1>
      <a:accent2>
        <a:srgbClr val="4FBAFC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